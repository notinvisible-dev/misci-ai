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0" y="3840480"/>
            <a:ext cx="9144000" cy="1303020"/>
          </a:xfrm>
          <a:prstGeom prst="rect">
            <a:avLst/>
          </a:prstGeom>
          <a:solidFill>
            <a:srgbClr val="4ADE80"/>
          </a:solidFill>
          <a:ln/>
        </p:spPr>
      </p:sp>
      <p:sp>
        <p:nvSpPr>
          <p:cNvPr id="4" name="Text 2"/>
          <p:cNvSpPr/>
          <p:nvPr/>
        </p:nvSpPr>
        <p:spPr>
          <a:xfrm>
            <a:off x="457200" y="1097280"/>
            <a:ext cx="8229600" cy="1097280"/>
          </a:xfrm>
          <a:prstGeom prst="rect">
            <a:avLst/>
          </a:prstGeom>
          <a:noFill/>
          <a:ln/>
        </p:spPr>
        <p:txBody>
          <a:bodyPr wrap="square" rtlCol="0" anchor="ctr"/>
          <a:lstStyle/>
          <a:p>
            <a:pPr indent="0" marL="0">
              <a:buNone/>
            </a:pPr>
            <a:r>
              <a:rPr lang="en-US" sz="5400" b="1" dirty="0">
                <a:solidFill>
                  <a:srgbClr val="FFFFFF"/>
                </a:solidFill>
                <a:latin typeface="Arial" pitchFamily="34" charset="0"/>
                <a:ea typeface="Arial" pitchFamily="34" charset="-122"/>
                <a:cs typeface="Arial" pitchFamily="34" charset="-120"/>
              </a:rPr>
              <a:t>DrDonut</a:t>
            </a:r>
            <a:endParaRPr lang="en-US" sz="5400" dirty="0"/>
          </a:p>
        </p:txBody>
      </p:sp>
      <p:sp>
        <p:nvSpPr>
          <p:cNvPr id="5" name="Text 3"/>
          <p:cNvSpPr/>
          <p:nvPr/>
        </p:nvSpPr>
        <p:spPr>
          <a:xfrm>
            <a:off x="457200" y="2194560"/>
            <a:ext cx="8229600" cy="731520"/>
          </a:xfrm>
          <a:prstGeom prst="rect">
            <a:avLst/>
          </a:prstGeom>
          <a:noFill/>
          <a:ln/>
        </p:spPr>
        <p:txBody>
          <a:bodyPr wrap="square" rtlCol="0" anchor="ctr"/>
          <a:lstStyle/>
          <a:p>
            <a:pPr indent="0" marL="0">
              <a:buNone/>
            </a:pPr>
            <a:r>
              <a:rPr lang="en-US" sz="2800" dirty="0">
                <a:solidFill>
                  <a:srgbClr val="4ADE80"/>
                </a:solidFill>
                <a:latin typeface="Arial" pitchFamily="34" charset="0"/>
                <a:ea typeface="Arial" pitchFamily="34" charset="-122"/>
                <a:cs typeface="Arial" pitchFamily="34" charset="-120"/>
              </a:rPr>
              <a:t>Flooding, Explosions, Drainers &amp; Lava</a:t>
            </a:r>
            <a:endParaRPr lang="en-US" sz="2800" dirty="0"/>
          </a:p>
        </p:txBody>
      </p:sp>
      <p:sp>
        <p:nvSpPr>
          <p:cNvPr id="6" name="Text 4"/>
          <p:cNvSpPr/>
          <p:nvPr/>
        </p:nvSpPr>
        <p:spPr>
          <a:xfrm>
            <a:off x="457200" y="2926080"/>
            <a:ext cx="8229600" cy="548640"/>
          </a:xfrm>
          <a:prstGeom prst="rect">
            <a:avLst/>
          </a:prstGeom>
          <a:noFill/>
          <a:ln/>
        </p:spPr>
        <p:txBody>
          <a:bodyPr wrap="square" rtlCol="0" anchor="ctr"/>
          <a:lstStyle/>
          <a:p>
            <a:pPr indent="0" marL="0">
              <a:buNone/>
            </a:pPr>
            <a:r>
              <a:rPr lang="en-US" sz="1800" dirty="0">
                <a:solidFill>
                  <a:srgbClr val="94A3B8"/>
                </a:solidFill>
                <a:latin typeface="Arial" pitchFamily="34" charset="0"/>
                <a:ea typeface="Arial" pitchFamily="34" charset="-122"/>
                <a:cs typeface="Arial" pitchFamily="34" charset="-120"/>
              </a:rPr>
              <a:t>The Minecraft Streamer Who Broke the Server</a:t>
            </a:r>
            <a:endParaRPr lang="en-US" sz="1800" dirty="0"/>
          </a:p>
        </p:txBody>
      </p:sp>
      <p:sp>
        <p:nvSpPr>
          <p:cNvPr id="7" name="Text 5"/>
          <p:cNvSpPr/>
          <p:nvPr/>
        </p:nvSpPr>
        <p:spPr>
          <a:xfrm>
            <a:off x="457200" y="4023360"/>
            <a:ext cx="8229600" cy="731520"/>
          </a:xfrm>
          <a:prstGeom prst="rect">
            <a:avLst/>
          </a:prstGeom>
          <a:noFill/>
          <a:ln/>
        </p:spPr>
        <p:txBody>
          <a:bodyPr wrap="square" rtlCol="0" anchor="ctr"/>
          <a:lstStyle/>
          <a:p>
            <a:pPr indent="0" marL="0">
              <a:buNone/>
            </a:pPr>
            <a:r>
              <a:rPr lang="en-US" sz="3600" b="1" dirty="0">
                <a:solidFill>
                  <a:srgbClr val="0F0F1A"/>
                </a:solidFill>
                <a:latin typeface="Arial" pitchFamily="34" charset="0"/>
                <a:ea typeface="Arial" pitchFamily="34" charset="-122"/>
                <a:cs typeface="Arial" pitchFamily="34" charset="-120"/>
              </a:rPr>
              <a:t>DONUTSMP</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Who is DrDonut?</a:t>
            </a:r>
            <a:endParaRPr lang="en-US" sz="3600" dirty="0"/>
          </a:p>
        </p:txBody>
      </p:sp>
      <p:sp>
        <p:nvSpPr>
          <p:cNvPr id="3" name="Shape 1"/>
          <p:cNvSpPr/>
          <p:nvPr/>
        </p:nvSpPr>
        <p:spPr>
          <a:xfrm>
            <a:off x="457200" y="1005840"/>
            <a:ext cx="3840480" cy="3657600"/>
          </a:xfrm>
          <a:prstGeom prst="rect">
            <a:avLst>
              <a:gd name="adj" fmla="val 2500"/>
            </a:avLst>
          </a:prstGeom>
          <a:solidFill>
            <a:srgbClr val="1A1A2E"/>
          </a:solidFill>
          <a:ln/>
        </p:spPr>
      </p:sp>
      <p:sp>
        <p:nvSpPr>
          <p:cNvPr id="4" name="Text 2"/>
          <p:cNvSpPr/>
          <p:nvPr/>
        </p:nvSpPr>
        <p:spPr>
          <a:xfrm>
            <a:off x="731520" y="1188720"/>
            <a:ext cx="3291840" cy="3291840"/>
          </a:xfrm>
          <a:prstGeom prst="rect">
            <a:avLst/>
          </a:prstGeom>
          <a:noFill/>
          <a:ln/>
        </p:spPr>
        <p:txBody>
          <a:bodyPr wrap="square" rtlCol="0" anchor="t"/>
          <a:lstStyle/>
          <a:p>
            <a:pPr indent="0" marL="0">
              <a:buNone/>
            </a:pPr>
            <a:r>
              <a:rPr lang="en-US" sz="1800" b="1" dirty="0">
                <a:solidFill>
                  <a:srgbClr val="4ADE80"/>
                </a:solidFill>
                <a:latin typeface="Arial" pitchFamily="34" charset="0"/>
                <a:ea typeface="Arial" pitchFamily="34" charset="-122"/>
                <a:cs typeface="Arial" pitchFamily="34" charset="-120"/>
              </a:rPr>
              <a:t>American YouTuber &amp; Streamer
</a:t>
            </a:r>
            <a:pPr indent="0" marL="0">
              <a:buNone/>
            </a:pPr>
            <a:r>
              <a:rPr lang="en-US" sz="1400" dirty="0">
                <a:solidFill>
                  <a:srgbClr val="94A3B8"/>
                </a:solidFill>
                <a:latin typeface="Arial" pitchFamily="34" charset="0"/>
                <a:ea typeface="Arial" pitchFamily="34" charset="-122"/>
                <a:cs typeface="Arial" pitchFamily="34" charset="-120"/>
              </a:rPr>
              <a:t>
From Virginia, USA
</a:t>
            </a:r>
            <a:pPr indent="0" marL="0">
              <a:buNone/>
            </a:pPr>
            <a:r>
              <a:rPr lang="en-US" sz="1400" dirty="0">
                <a:solidFill>
                  <a:srgbClr val="E2E8F0"/>
                </a:solidFill>
                <a:latin typeface="Arial" pitchFamily="34" charset="0"/>
                <a:ea typeface="Arial" pitchFamily="34" charset="-122"/>
                <a:cs typeface="Arial" pitchFamily="34" charset="-120"/>
              </a:rPr>
              <a:t>Crystal PvP specialist with 2.3M+ YouTube subscribers
</a:t>
            </a:r>
            <a:pPr indent="0" marL="0">
              <a:buNone/>
            </a:pPr>
            <a:r>
              <a:rPr lang="en-US" sz="1400" dirty="0">
                <a:solidFill>
                  <a:srgbClr val="E2E8F0"/>
                </a:solidFill>
                <a:latin typeface="Arial" pitchFamily="34" charset="0"/>
                <a:ea typeface="Arial" pitchFamily="34" charset="-122"/>
                <a:cs typeface="Arial" pitchFamily="34" charset="-120"/>
              </a:rPr>
              <a:t>Created DonutSMP from scratch — peaked at 60,000 concurrent players
</a:t>
            </a:r>
            <a:pPr indent="0" marL="0">
              <a:buNone/>
            </a:pPr>
            <a:r>
              <a:rPr lang="en-US" sz="1400" dirty="0">
                <a:solidFill>
                  <a:srgbClr val="E2E8F0"/>
                </a:solidFill>
                <a:latin typeface="Arial" pitchFamily="34" charset="0"/>
                <a:ea typeface="Arial" pitchFamily="34" charset="-122"/>
                <a:cs typeface="Arial" pitchFamily="34" charset="-120"/>
              </a:rPr>
              <a:t>Known for teleporting to players and rating their bases on stream
</a:t>
            </a:r>
            <a:pPr indent="0" marL="0">
              <a:buNone/>
            </a:pPr>
            <a:r>
              <a:rPr lang="en-US" sz="1400" dirty="0">
                <a:solidFill>
                  <a:srgbClr val="E2E8F0"/>
                </a:solidFill>
                <a:latin typeface="Arial" pitchFamily="34" charset="0"/>
                <a:ea typeface="Arial" pitchFamily="34" charset="-122"/>
                <a:cs typeface="Arial" pitchFamily="34" charset="-120"/>
              </a:rPr>
              <a:t>Dream collab partner and McTiers co-owner</a:t>
            </a:r>
            <a:endParaRPr lang="en-US" sz="1800" dirty="0"/>
          </a:p>
        </p:txBody>
      </p:sp>
      <p:sp>
        <p:nvSpPr>
          <p:cNvPr id="5" name="Shape 3"/>
          <p:cNvSpPr/>
          <p:nvPr/>
        </p:nvSpPr>
        <p:spPr>
          <a:xfrm>
            <a:off x="4754880" y="1005840"/>
            <a:ext cx="3931920" cy="3657600"/>
          </a:xfrm>
          <a:prstGeom prst="rect">
            <a:avLst>
              <a:gd name="adj" fmla="val 2500"/>
            </a:avLst>
          </a:prstGeom>
          <a:solidFill>
            <a:srgbClr val="1A1A2E"/>
          </a:solidFill>
          <a:ln/>
        </p:spPr>
      </p:sp>
      <p:sp>
        <p:nvSpPr>
          <p:cNvPr id="6" name="Text 4"/>
          <p:cNvSpPr/>
          <p:nvPr/>
        </p:nvSpPr>
        <p:spPr>
          <a:xfrm>
            <a:off x="5029200" y="1188720"/>
            <a:ext cx="3383280" cy="3291840"/>
          </a:xfrm>
          <a:prstGeom prst="rect">
            <a:avLst/>
          </a:prstGeom>
          <a:noFill/>
          <a:ln/>
        </p:spPr>
        <p:txBody>
          <a:bodyPr wrap="square" rtlCol="0" anchor="t"/>
          <a:lstStyle/>
          <a:p>
            <a:pPr indent="0" marL="0">
              <a:buNone/>
            </a:pPr>
            <a:r>
              <a:rPr lang="en-US" sz="1800" b="1" dirty="0">
                <a:solidFill>
                  <a:srgbClr val="22D3EE"/>
                </a:solidFill>
                <a:latin typeface="Arial" pitchFamily="34" charset="0"/>
                <a:ea typeface="Arial" pitchFamily="34" charset="-122"/>
                <a:cs typeface="Arial" pitchFamily="34" charset="-120"/>
              </a:rPr>
              <a:t>Content Style
</a:t>
            </a:r>
            <a:pPr indent="0" marL="0">
              <a:buNone/>
            </a:pPr>
            <a:r>
              <a:rPr lang="en-US" sz="10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 Crystal PvP challenges and tier grinds
</a:t>
            </a:r>
            <a:pPr indent="0" marL="0">
              <a:buNone/>
            </a:pPr>
            <a:r>
              <a:rPr lang="en-US" sz="1300" dirty="0">
                <a:solidFill>
                  <a:srgbClr val="E2E8F0"/>
                </a:solidFill>
                <a:latin typeface="Arial" pitchFamily="34" charset="0"/>
                <a:ea typeface="Arial" pitchFamily="34" charset="-122"/>
                <a:cs typeface="Arial" pitchFamily="34" charset="-120"/>
              </a:rPr>
              <a:t>• Base rating streams (teleports to viewers)
</a:t>
            </a:r>
            <a:pPr indent="0" marL="0">
              <a:buNone/>
            </a:pPr>
            <a:r>
              <a:rPr lang="en-US" sz="1300" dirty="0">
                <a:solidFill>
                  <a:srgbClr val="E2E8F0"/>
                </a:solidFill>
                <a:latin typeface="Arial" pitchFamily="34" charset="0"/>
                <a:ea typeface="Arial" pitchFamily="34" charset="-122"/>
                <a:cs typeface="Arial" pitchFamily="34" charset="-120"/>
              </a:rPr>
              <a:t>• DonutSMP raids and bounty hunting
</a:t>
            </a:r>
            <a:pPr indent="0" marL="0">
              <a:buNone/>
            </a:pPr>
            <a:r>
              <a:rPr lang="en-US" sz="1300" dirty="0">
                <a:solidFill>
                  <a:srgbClr val="E2E8F0"/>
                </a:solidFill>
                <a:latin typeface="Arial" pitchFamily="34" charset="0"/>
                <a:ea typeface="Arial" pitchFamily="34" charset="-122"/>
                <a:cs typeface="Arial" pitchFamily="34" charset="-120"/>
              </a:rPr>
              <a:t>• Reaction content that gets millions of views
</a:t>
            </a:r>
            <a:pPr indent="0" marL="0">
              <a:buNone/>
            </a:pPr>
            <a:r>
              <a:rPr lang="en-US" sz="1300" dirty="0">
                <a:solidFill>
                  <a:srgbClr val="E2E8F0"/>
                </a:solidFill>
                <a:latin typeface="Arial" pitchFamily="34" charset="0"/>
                <a:ea typeface="Arial" pitchFamily="34" charset="-122"/>
                <a:cs typeface="Arial" pitchFamily="34" charset="-120"/>
              </a:rPr>
              <a:t>• Lava experiments and trap escapes
</a:t>
            </a:r>
            <a:pPr indent="0" marL="0">
              <a:buNone/>
            </a:pPr>
            <a:r>
              <a:rPr lang="en-US" sz="1300" dirty="0">
                <a:solidFill>
                  <a:srgbClr val="E2E8F0"/>
                </a:solidFill>
                <a:latin typeface="Arial" pitchFamily="34" charset="0"/>
                <a:ea typeface="Arial" pitchFamily="34" charset="-122"/>
                <a:cs typeface="Arial" pitchFamily="34" charset="-120"/>
              </a:rPr>
              <a:t>• Charged creeper destruction testing
</a:t>
            </a:r>
            <a:pPr indent="0" marL="0">
              <a:buNone/>
            </a:pPr>
            <a:r>
              <a:rPr lang="en-US" sz="1300" dirty="0">
                <a:solidFill>
                  <a:srgbClr val="E2E8F0"/>
                </a:solidFill>
                <a:latin typeface="Arial" pitchFamily="34" charset="0"/>
                <a:ea typeface="Arial" pitchFamily="34" charset="-122"/>
                <a:cs typeface="Arial" pitchFamily="34" charset="-120"/>
              </a:rPr>
              <a:t>• "I Trapped DrDonut" collaboration videos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DonutSMP</a:t>
            </a:r>
            <a:endParaRPr lang="en-US" sz="3600" dirty="0"/>
          </a:p>
        </p:txBody>
      </p:sp>
      <p:sp>
        <p:nvSpPr>
          <p:cNvPr id="3" name="Text 1"/>
          <p:cNvSpPr/>
          <p:nvPr/>
        </p:nvSpPr>
        <p:spPr>
          <a:xfrm>
            <a:off x="457200" y="822960"/>
            <a:ext cx="8229600" cy="457200"/>
          </a:xfrm>
          <a:prstGeom prst="rect">
            <a:avLst/>
          </a:prstGeom>
          <a:noFill/>
          <a:ln/>
        </p:spPr>
        <p:txBody>
          <a:bodyPr wrap="square" rtlCol="0" anchor="ctr"/>
          <a:lstStyle/>
          <a:p>
            <a:pPr indent="0" marL="0">
              <a:buNone/>
            </a:pPr>
            <a:r>
              <a:rPr lang="en-US" sz="1600" dirty="0">
                <a:solidFill>
                  <a:srgbClr val="94A3B8"/>
                </a:solidFill>
                <a:latin typeface="Arial" pitchFamily="34" charset="0"/>
                <a:ea typeface="Arial" pitchFamily="34" charset="-122"/>
                <a:cs typeface="Arial" pitchFamily="34" charset="-120"/>
              </a:rPr>
              <a:t>The Server That Changed Everything</a:t>
            </a:r>
            <a:endParaRPr lang="en-US" sz="1600" dirty="0"/>
          </a:p>
        </p:txBody>
      </p:sp>
      <p:sp>
        <p:nvSpPr>
          <p:cNvPr id="4" name="Shape 2"/>
          <p:cNvSpPr/>
          <p:nvPr/>
        </p:nvSpPr>
        <p:spPr>
          <a:xfrm>
            <a:off x="457200" y="1463040"/>
            <a:ext cx="1828800" cy="1463040"/>
          </a:xfrm>
          <a:prstGeom prst="rect">
            <a:avLst>
              <a:gd name="adj" fmla="val 6250"/>
            </a:avLst>
          </a:prstGeom>
          <a:solidFill>
            <a:srgbClr val="1A1A2E"/>
          </a:solidFill>
          <a:ln/>
        </p:spPr>
      </p:sp>
      <p:sp>
        <p:nvSpPr>
          <p:cNvPr id="5" name="Text 3"/>
          <p:cNvSpPr/>
          <p:nvPr/>
        </p:nvSpPr>
        <p:spPr>
          <a:xfrm>
            <a:off x="457200" y="1554480"/>
            <a:ext cx="1828800" cy="822960"/>
          </a:xfrm>
          <a:prstGeom prst="rect">
            <a:avLst/>
          </a:prstGeom>
          <a:noFill/>
          <a:ln/>
        </p:spPr>
        <p:txBody>
          <a:bodyPr wrap="square" rtlCol="0" anchor="ctr"/>
          <a:lstStyle/>
          <a:p>
            <a:pPr algn="ctr" indent="0" marL="0">
              <a:buNone/>
            </a:pPr>
            <a:r>
              <a:rPr lang="en-US" sz="3600" b="1" dirty="0">
                <a:solidFill>
                  <a:srgbClr val="4ADE80"/>
                </a:solidFill>
                <a:latin typeface="Arial" pitchFamily="34" charset="0"/>
                <a:ea typeface="Arial" pitchFamily="34" charset="-122"/>
                <a:cs typeface="Arial" pitchFamily="34" charset="-120"/>
              </a:rPr>
              <a:t>60K</a:t>
            </a:r>
            <a:endParaRPr lang="en-US" sz="3600" dirty="0"/>
          </a:p>
        </p:txBody>
      </p:sp>
      <p:sp>
        <p:nvSpPr>
          <p:cNvPr id="6" name="Text 4"/>
          <p:cNvSpPr/>
          <p:nvPr/>
        </p:nvSpPr>
        <p:spPr>
          <a:xfrm>
            <a:off x="457200" y="2286000"/>
            <a:ext cx="1828800" cy="457200"/>
          </a:xfrm>
          <a:prstGeom prst="rect">
            <a:avLst/>
          </a:prstGeom>
          <a:noFill/>
          <a:ln/>
        </p:spPr>
        <p:txBody>
          <a:bodyPr wrap="square"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Peak Players</a:t>
            </a:r>
            <a:endParaRPr lang="en-US" sz="1200" dirty="0"/>
          </a:p>
        </p:txBody>
      </p:sp>
      <p:sp>
        <p:nvSpPr>
          <p:cNvPr id="7" name="Shape 5"/>
          <p:cNvSpPr/>
          <p:nvPr/>
        </p:nvSpPr>
        <p:spPr>
          <a:xfrm>
            <a:off x="2560320" y="1463040"/>
            <a:ext cx="1828800" cy="1463040"/>
          </a:xfrm>
          <a:prstGeom prst="rect">
            <a:avLst>
              <a:gd name="adj" fmla="val 6250"/>
            </a:avLst>
          </a:prstGeom>
          <a:solidFill>
            <a:srgbClr val="1A1A2E"/>
          </a:solidFill>
          <a:ln/>
        </p:spPr>
      </p:sp>
      <p:sp>
        <p:nvSpPr>
          <p:cNvPr id="8" name="Text 6"/>
          <p:cNvSpPr/>
          <p:nvPr/>
        </p:nvSpPr>
        <p:spPr>
          <a:xfrm>
            <a:off x="2560320" y="1554480"/>
            <a:ext cx="1828800" cy="822960"/>
          </a:xfrm>
          <a:prstGeom prst="rect">
            <a:avLst/>
          </a:prstGeom>
          <a:noFill/>
          <a:ln/>
        </p:spPr>
        <p:txBody>
          <a:bodyPr wrap="square" rtlCol="0" anchor="ctr"/>
          <a:lstStyle/>
          <a:p>
            <a:pPr algn="ctr" indent="0" marL="0">
              <a:buNone/>
            </a:pPr>
            <a:r>
              <a:rPr lang="en-US" sz="3600" b="1" dirty="0">
                <a:solidFill>
                  <a:srgbClr val="22D3EE"/>
                </a:solidFill>
                <a:latin typeface="Arial" pitchFamily="34" charset="0"/>
                <a:ea typeface="Arial" pitchFamily="34" charset="-122"/>
                <a:cs typeface="Arial" pitchFamily="34" charset="-120"/>
              </a:rPr>
              <a:t>518K</a:t>
            </a:r>
            <a:endParaRPr lang="en-US" sz="3600" dirty="0"/>
          </a:p>
        </p:txBody>
      </p:sp>
      <p:sp>
        <p:nvSpPr>
          <p:cNvPr id="9" name="Text 7"/>
          <p:cNvSpPr/>
          <p:nvPr/>
        </p:nvSpPr>
        <p:spPr>
          <a:xfrm>
            <a:off x="2560320" y="2286000"/>
            <a:ext cx="1828800" cy="457200"/>
          </a:xfrm>
          <a:prstGeom prst="rect">
            <a:avLst/>
          </a:prstGeom>
          <a:noFill/>
          <a:ln/>
        </p:spPr>
        <p:txBody>
          <a:bodyPr wrap="square"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Twitch Followers</a:t>
            </a:r>
            <a:endParaRPr lang="en-US" sz="1200" dirty="0"/>
          </a:p>
        </p:txBody>
      </p:sp>
      <p:sp>
        <p:nvSpPr>
          <p:cNvPr id="10" name="Shape 8"/>
          <p:cNvSpPr/>
          <p:nvPr/>
        </p:nvSpPr>
        <p:spPr>
          <a:xfrm>
            <a:off x="4663440" y="1463040"/>
            <a:ext cx="1828800" cy="1463040"/>
          </a:xfrm>
          <a:prstGeom prst="rect">
            <a:avLst>
              <a:gd name="adj" fmla="val 6250"/>
            </a:avLst>
          </a:prstGeom>
          <a:solidFill>
            <a:srgbClr val="1A1A2E"/>
          </a:solidFill>
          <a:ln/>
        </p:spPr>
      </p:sp>
      <p:sp>
        <p:nvSpPr>
          <p:cNvPr id="11" name="Text 9"/>
          <p:cNvSpPr/>
          <p:nvPr/>
        </p:nvSpPr>
        <p:spPr>
          <a:xfrm>
            <a:off x="4663440" y="1554480"/>
            <a:ext cx="1828800" cy="822960"/>
          </a:xfrm>
          <a:prstGeom prst="rect">
            <a:avLst/>
          </a:prstGeom>
          <a:noFill/>
          <a:ln/>
        </p:spPr>
        <p:txBody>
          <a:bodyPr wrap="square" rtlCol="0" anchor="ctr"/>
          <a:lstStyle/>
          <a:p>
            <a:pPr algn="ctr" indent="0" marL="0">
              <a:buNone/>
            </a:pPr>
            <a:r>
              <a:rPr lang="en-US" sz="3600" b="1" dirty="0">
                <a:solidFill>
                  <a:srgbClr val="A855F7"/>
                </a:solidFill>
                <a:latin typeface="Arial" pitchFamily="34" charset="0"/>
                <a:ea typeface="Arial" pitchFamily="34" charset="-122"/>
                <a:cs typeface="Arial" pitchFamily="34" charset="-120"/>
              </a:rPr>
              <a:t>2.3M</a:t>
            </a:r>
            <a:endParaRPr lang="en-US" sz="3600" dirty="0"/>
          </a:p>
        </p:txBody>
      </p:sp>
      <p:sp>
        <p:nvSpPr>
          <p:cNvPr id="12" name="Text 10"/>
          <p:cNvSpPr/>
          <p:nvPr/>
        </p:nvSpPr>
        <p:spPr>
          <a:xfrm>
            <a:off x="4663440" y="2286000"/>
            <a:ext cx="1828800" cy="457200"/>
          </a:xfrm>
          <a:prstGeom prst="rect">
            <a:avLst/>
          </a:prstGeom>
          <a:noFill/>
          <a:ln/>
        </p:spPr>
        <p:txBody>
          <a:bodyPr wrap="square"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YouTube Subs</a:t>
            </a:r>
            <a:endParaRPr lang="en-US" sz="1200" dirty="0"/>
          </a:p>
        </p:txBody>
      </p:sp>
      <p:sp>
        <p:nvSpPr>
          <p:cNvPr id="13" name="Shape 11"/>
          <p:cNvSpPr/>
          <p:nvPr/>
        </p:nvSpPr>
        <p:spPr>
          <a:xfrm>
            <a:off x="6766560" y="1463040"/>
            <a:ext cx="1828800" cy="1463040"/>
          </a:xfrm>
          <a:prstGeom prst="rect">
            <a:avLst>
              <a:gd name="adj" fmla="val 6250"/>
            </a:avLst>
          </a:prstGeom>
          <a:solidFill>
            <a:srgbClr val="1A1A2E"/>
          </a:solidFill>
          <a:ln/>
        </p:spPr>
      </p:sp>
      <p:sp>
        <p:nvSpPr>
          <p:cNvPr id="14" name="Text 12"/>
          <p:cNvSpPr/>
          <p:nvPr/>
        </p:nvSpPr>
        <p:spPr>
          <a:xfrm>
            <a:off x="6766560" y="1554480"/>
            <a:ext cx="1828800" cy="822960"/>
          </a:xfrm>
          <a:prstGeom prst="rect">
            <a:avLst/>
          </a:prstGeom>
          <a:noFill/>
          <a:ln/>
        </p:spPr>
        <p:txBody>
          <a:bodyPr wrap="square" rtlCol="0" anchor="ctr"/>
          <a:lstStyle/>
          <a:p>
            <a:pPr algn="ctr" indent="0" marL="0">
              <a:buNone/>
            </a:pPr>
            <a:r>
              <a:rPr lang="en-US" sz="3600" b="1" dirty="0">
                <a:solidFill>
                  <a:srgbClr val="F97316"/>
                </a:solidFill>
                <a:latin typeface="Arial" pitchFamily="34" charset="0"/>
                <a:ea typeface="Arial" pitchFamily="34" charset="-122"/>
                <a:cs typeface="Arial" pitchFamily="34" charset="-120"/>
              </a:rPr>
              <a:t>1B</a:t>
            </a:r>
            <a:endParaRPr lang="en-US" sz="3600" dirty="0"/>
          </a:p>
        </p:txBody>
      </p:sp>
      <p:sp>
        <p:nvSpPr>
          <p:cNvPr id="15" name="Text 13"/>
          <p:cNvSpPr/>
          <p:nvPr/>
        </p:nvSpPr>
        <p:spPr>
          <a:xfrm>
            <a:off x="6766560" y="2286000"/>
            <a:ext cx="1828800" cy="457200"/>
          </a:xfrm>
          <a:prstGeom prst="rect">
            <a:avLst/>
          </a:prstGeom>
          <a:noFill/>
          <a:ln/>
        </p:spPr>
        <p:txBody>
          <a:bodyPr wrap="square"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Clip Channel Views</a:t>
            </a:r>
            <a:endParaRPr lang="en-US" sz="1200" dirty="0"/>
          </a:p>
        </p:txBody>
      </p:sp>
      <p:sp>
        <p:nvSpPr>
          <p:cNvPr id="16" name="Shape 14"/>
          <p:cNvSpPr/>
          <p:nvPr/>
        </p:nvSpPr>
        <p:spPr>
          <a:xfrm>
            <a:off x="457200" y="3200400"/>
            <a:ext cx="8229600" cy="1645920"/>
          </a:xfrm>
          <a:prstGeom prst="rect">
            <a:avLst>
              <a:gd name="adj" fmla="val 5556"/>
            </a:avLst>
          </a:prstGeom>
          <a:solidFill>
            <a:srgbClr val="1A1A2E"/>
          </a:solidFill>
          <a:ln/>
        </p:spPr>
      </p:sp>
      <p:sp>
        <p:nvSpPr>
          <p:cNvPr id="17" name="Text 15"/>
          <p:cNvSpPr/>
          <p:nvPr/>
        </p:nvSpPr>
        <p:spPr>
          <a:xfrm>
            <a:off x="731520" y="3291840"/>
            <a:ext cx="7680960" cy="1463040"/>
          </a:xfrm>
          <a:prstGeom prst="rect">
            <a:avLst/>
          </a:prstGeom>
          <a:noFill/>
          <a:ln/>
        </p:spPr>
        <p:txBody>
          <a:bodyPr wrap="square" rtlCol="0" anchor="t"/>
          <a:lstStyle/>
          <a:p>
            <a:pPr indent="0" marL="0">
              <a:buNone/>
            </a:pPr>
            <a:r>
              <a:rPr lang="en-US" sz="1500" b="1" dirty="0">
                <a:solidFill>
                  <a:srgbClr val="FFFFFF"/>
                </a:solidFill>
                <a:latin typeface="Arial" pitchFamily="34" charset="0"/>
                <a:ea typeface="Arial" pitchFamily="34" charset="-122"/>
                <a:cs typeface="Arial" pitchFamily="34" charset="-120"/>
              </a:rPr>
              <a:t>Semi-anarchy Minecraft server
</a:t>
            </a:r>
            <a:pPr indent="0" marL="0">
              <a:buNone/>
            </a:pPr>
            <a:r>
              <a:rPr lang="en-US" sz="8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Players can raid each other's bases. No land protection. Bounties on your head. Crystal PvP is king. When you die, you lose everything. The server runs on pure chaos — and DrDonut profits from every second of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Crystal PvP</a:t>
            </a:r>
            <a:endParaRPr lang="en-US" sz="3600" dirty="0"/>
          </a:p>
        </p:txBody>
      </p:sp>
      <p:sp>
        <p:nvSpPr>
          <p:cNvPr id="3" name="Text 1"/>
          <p:cNvSpPr/>
          <p:nvPr/>
        </p:nvSpPr>
        <p:spPr>
          <a:xfrm>
            <a:off x="457200" y="822960"/>
            <a:ext cx="8229600" cy="457200"/>
          </a:xfrm>
          <a:prstGeom prst="rect">
            <a:avLst/>
          </a:prstGeom>
          <a:noFill/>
          <a:ln/>
        </p:spPr>
        <p:txBody>
          <a:bodyPr wrap="square" rtlCol="0" anchor="ctr"/>
          <a:lstStyle/>
          <a:p>
            <a:pPr indent="0" marL="0">
              <a:buNone/>
            </a:pPr>
            <a:r>
              <a:rPr lang="en-US" sz="1600" dirty="0">
                <a:solidFill>
                  <a:srgbClr val="94A3B8"/>
                </a:solidFill>
                <a:latin typeface="Arial" pitchFamily="34" charset="0"/>
                <a:ea typeface="Arial" pitchFamily="34" charset="-122"/>
                <a:cs typeface="Arial" pitchFamily="34" charset="-120"/>
              </a:rPr>
              <a:t>The Core Combat Mechanic</a:t>
            </a:r>
            <a:endParaRPr lang="en-US" sz="1600" dirty="0"/>
          </a:p>
        </p:txBody>
      </p:sp>
      <p:sp>
        <p:nvSpPr>
          <p:cNvPr id="4" name="Shape 2"/>
          <p:cNvSpPr/>
          <p:nvPr/>
        </p:nvSpPr>
        <p:spPr>
          <a:xfrm>
            <a:off x="457200" y="1463040"/>
            <a:ext cx="3840480" cy="3200400"/>
          </a:xfrm>
          <a:prstGeom prst="rect">
            <a:avLst>
              <a:gd name="adj" fmla="val 2857"/>
            </a:avLst>
          </a:prstGeom>
          <a:solidFill>
            <a:srgbClr val="1A1A2E"/>
          </a:solidFill>
          <a:ln/>
        </p:spPr>
      </p:sp>
      <p:sp>
        <p:nvSpPr>
          <p:cNvPr id="5" name="Text 3"/>
          <p:cNvSpPr/>
          <p:nvPr/>
        </p:nvSpPr>
        <p:spPr>
          <a:xfrm>
            <a:off x="731520" y="1645920"/>
            <a:ext cx="3291840" cy="2834640"/>
          </a:xfrm>
          <a:prstGeom prst="rect">
            <a:avLst/>
          </a:prstGeom>
          <a:noFill/>
          <a:ln/>
        </p:spPr>
        <p:txBody>
          <a:bodyPr wrap="square" rtlCol="0" anchor="t"/>
          <a:lstStyle/>
          <a:p>
            <a:pPr indent="0" marL="0">
              <a:buNone/>
            </a:pPr>
            <a:r>
              <a:rPr lang="en-US" sz="1800" b="1" dirty="0">
                <a:solidFill>
                  <a:srgbClr val="22D3EE"/>
                </a:solidFill>
                <a:latin typeface="Arial" pitchFamily="34" charset="0"/>
                <a:ea typeface="Arial" pitchFamily="34" charset="-122"/>
                <a:cs typeface="Arial" pitchFamily="34" charset="-120"/>
              </a:rPr>
              <a:t>How It Works
</a:t>
            </a:r>
            <a:pPr indent="0" marL="0">
              <a:buNone/>
            </a:pPr>
            <a:r>
              <a:rPr lang="en-US" sz="8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End Crystals sit on obsidian pillars in the End. Players grab them and use them as weapons.
</a:t>
            </a:r>
            <a:pPr indent="0" marL="0">
              <a:buNone/>
            </a:pPr>
            <a:r>
              <a:rPr lang="en-US" sz="1300" dirty="0">
                <a:solidFill>
                  <a:srgbClr val="E2E8F0"/>
                </a:solidFill>
                <a:latin typeface="Arial" pitchFamily="34" charset="0"/>
                <a:ea typeface="Arial" pitchFamily="34" charset="-122"/>
                <a:cs typeface="Arial" pitchFamily="34" charset="-120"/>
              </a:rPr>
              <a:t>Place crystal next to enemy → destroy it → massive burst damage
</a:t>
            </a:r>
            <a:pPr indent="0" marL="0">
              <a:buNone/>
            </a:pPr>
            <a:r>
              <a:rPr lang="en-US" sz="1300" dirty="0">
                <a:solidFill>
                  <a:srgbClr val="E2E8F0"/>
                </a:solidFill>
                <a:latin typeface="Arial" pitchFamily="34" charset="0"/>
                <a:ea typeface="Arial" pitchFamily="34" charset="-122"/>
                <a:cs typeface="Arial" pitchFamily="34" charset="-120"/>
              </a:rPr>
              <a:t>Skilled players chain place-break cycles multiple times per second
</a:t>
            </a:r>
            <a:pPr indent="0" marL="0">
              <a:buNone/>
            </a:pPr>
            <a:r>
              <a:rPr lang="en-US" sz="1300" dirty="0">
                <a:solidFill>
                  <a:srgbClr val="E2E8F0"/>
                </a:solidFill>
                <a:latin typeface="Arial" pitchFamily="34" charset="0"/>
                <a:ea typeface="Arial" pitchFamily="34" charset="-122"/>
                <a:cs typeface="Arial" pitchFamily="34" charset="-120"/>
              </a:rPr>
              <a:t>Respawn Anchors also work — they explode in the Overworld</a:t>
            </a:r>
            <a:endParaRPr lang="en-US" sz="1800" dirty="0"/>
          </a:p>
        </p:txBody>
      </p:sp>
      <p:sp>
        <p:nvSpPr>
          <p:cNvPr id="6" name="Shape 4"/>
          <p:cNvSpPr/>
          <p:nvPr/>
        </p:nvSpPr>
        <p:spPr>
          <a:xfrm>
            <a:off x="4754880" y="1463040"/>
            <a:ext cx="3931920" cy="3200400"/>
          </a:xfrm>
          <a:prstGeom prst="rect">
            <a:avLst>
              <a:gd name="adj" fmla="val 2857"/>
            </a:avLst>
          </a:prstGeom>
          <a:solidFill>
            <a:srgbClr val="1A1A2E"/>
          </a:solidFill>
          <a:ln/>
        </p:spPr>
      </p:sp>
      <p:sp>
        <p:nvSpPr>
          <p:cNvPr id="7" name="Text 5"/>
          <p:cNvSpPr/>
          <p:nvPr/>
        </p:nvSpPr>
        <p:spPr>
          <a:xfrm>
            <a:off x="5029200" y="1645920"/>
            <a:ext cx="3383280" cy="2834640"/>
          </a:xfrm>
          <a:prstGeom prst="rect">
            <a:avLst/>
          </a:prstGeom>
          <a:noFill/>
          <a:ln/>
        </p:spPr>
        <p:txBody>
          <a:bodyPr wrap="square" rtlCol="0" anchor="t"/>
          <a:lstStyle/>
          <a:p>
            <a:pPr indent="0" marL="0">
              <a:buNone/>
            </a:pPr>
            <a:r>
              <a:rPr lang="en-US" sz="1800" b="1" dirty="0">
                <a:solidFill>
                  <a:srgbClr val="F97316"/>
                </a:solidFill>
                <a:latin typeface="Arial" pitchFamily="34" charset="0"/>
                <a:ea typeface="Arial" pitchFamily="34" charset="-122"/>
                <a:cs typeface="Arial" pitchFamily="34" charset="-120"/>
              </a:rPr>
              <a:t>DrDonut's Tier Grind
</a:t>
            </a:r>
            <a:pPr indent="0" marL="0">
              <a:buNone/>
            </a:pPr>
            <a:r>
              <a:rPr lang="en-US" sz="8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The PvP tier list ranks players from HT1 (best) to LT5 (worst).
</a:t>
            </a:r>
            <a:pPr indent="0" marL="0">
              <a:buNone/>
            </a:pPr>
            <a:r>
              <a:rPr lang="en-US" sz="1300" dirty="0">
                <a:solidFill>
                  <a:srgbClr val="E2E8F0"/>
                </a:solidFill>
                <a:latin typeface="Arial" pitchFamily="34" charset="0"/>
                <a:ea typeface="Arial" pitchFamily="34" charset="-122"/>
                <a:cs typeface="Arial" pitchFamily="34" charset="-120"/>
              </a:rPr>
              <a:t>• Reached HT3 tier in Crystal PvP
</a:t>
            </a:r>
            <a:pPr indent="0" marL="0">
              <a:buNone/>
            </a:pPr>
            <a:r>
              <a:rPr lang="en-US" sz="1300" dirty="0">
                <a:solidFill>
                  <a:srgbClr val="E2E8F0"/>
                </a:solidFill>
                <a:latin typeface="Arial" pitchFamily="34" charset="0"/>
                <a:ea typeface="Arial" pitchFamily="34" charset="-122"/>
                <a:cs typeface="Arial" pitchFamily="34" charset="-120"/>
              </a:rPr>
              <a:t>• Beat Marlow and ItzRealMe in fights
</a:t>
            </a:r>
            <a:pPr indent="0" marL="0">
              <a:buNone/>
            </a:pPr>
            <a:r>
              <a:rPr lang="en-US" sz="1300" dirty="0">
                <a:solidFill>
                  <a:srgbClr val="E2E8F0"/>
                </a:solidFill>
                <a:latin typeface="Arial" pitchFamily="34" charset="0"/>
                <a:ea typeface="Arial" pitchFamily="34" charset="-122"/>
                <a:cs typeface="Arial" pitchFamily="34" charset="-120"/>
              </a:rPr>
              <a:t>• Still grinding toward HT2
</a:t>
            </a:r>
            <a:pPr indent="0" marL="0">
              <a:buNone/>
            </a:pPr>
            <a:r>
              <a:rPr lang="en-US" sz="1300" dirty="0">
                <a:solidFill>
                  <a:srgbClr val="E2E8F0"/>
                </a:solidFill>
                <a:latin typeface="Arial" pitchFamily="34" charset="0"/>
                <a:ea typeface="Arial" pitchFamily="34" charset="-122"/>
                <a:cs typeface="Arial" pitchFamily="34" charset="-120"/>
              </a:rPr>
              <a:t>• Recently lost a tier 2 task fight 2-4
</a:t>
            </a:r>
            <a:pPr indent="0" marL="0">
              <a:buNone/>
            </a:pPr>
            <a:r>
              <a:rPr lang="en-US" sz="1300" dirty="0">
                <a:solidFill>
                  <a:srgbClr val="4ADE80"/>
                </a:solidFill>
                <a:latin typeface="Arial" pitchFamily="34" charset="0"/>
                <a:ea typeface="Arial" pitchFamily="34" charset="-122"/>
                <a:cs typeface="Arial" pitchFamily="34" charset="-120"/>
              </a:rPr>
              <a:t>Crystal PvP is the heartbeat of DonutSMP. Every fight is a gamble.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Flooding Mechanics</a:t>
            </a:r>
            <a:endParaRPr lang="en-US" sz="3600" dirty="0"/>
          </a:p>
        </p:txBody>
      </p:sp>
      <p:sp>
        <p:nvSpPr>
          <p:cNvPr id="3" name="Shape 1"/>
          <p:cNvSpPr/>
          <p:nvPr/>
        </p:nvSpPr>
        <p:spPr>
          <a:xfrm>
            <a:off x="457200" y="1097280"/>
            <a:ext cx="8229600" cy="1371600"/>
          </a:xfrm>
          <a:prstGeom prst="rect">
            <a:avLst>
              <a:gd name="adj" fmla="val 6667"/>
            </a:avLst>
          </a:prstGeom>
          <a:solidFill>
            <a:srgbClr val="0C4A6E"/>
          </a:solidFill>
          <a:ln/>
        </p:spPr>
      </p:sp>
      <p:sp>
        <p:nvSpPr>
          <p:cNvPr id="4" name="Text 2"/>
          <p:cNvSpPr/>
          <p:nvPr/>
        </p:nvSpPr>
        <p:spPr>
          <a:xfrm>
            <a:off x="731520" y="1188720"/>
            <a:ext cx="7680960" cy="1188720"/>
          </a:xfrm>
          <a:prstGeom prst="rect">
            <a:avLst/>
          </a:prstGeom>
          <a:noFill/>
          <a:ln/>
        </p:spPr>
        <p:txBody>
          <a:bodyPr wrap="square" rtlCol="0" anchor="t"/>
          <a:lstStyle/>
          <a:p>
            <a:pPr indent="0" marL="0">
              <a:buNone/>
            </a:pPr>
            <a:r>
              <a:rPr lang="en-US" sz="1800" b="1" dirty="0">
                <a:solidFill>
                  <a:srgbClr val="22D3EE"/>
                </a:solidFill>
                <a:latin typeface="Arial" pitchFamily="34" charset="0"/>
                <a:ea typeface="Arial" pitchFamily="34" charset="-122"/>
                <a:cs typeface="Arial" pitchFamily="34" charset="-120"/>
              </a:rPr>
              <a:t>Water Flow &amp; Base Destruction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On DonutSMP, water mechanics become weapons. Players flood enemy bases to destroy builds, expose hidden rooms, and ruin redstone contraptions. The flood tracker on donut.auction monitors how much of the Overworld gets flooded daily.</a:t>
            </a:r>
            <a:endParaRPr lang="en-US" sz="1800" dirty="0"/>
          </a:p>
        </p:txBody>
      </p:sp>
      <p:sp>
        <p:nvSpPr>
          <p:cNvPr id="5" name="Shape 3"/>
          <p:cNvSpPr/>
          <p:nvPr/>
        </p:nvSpPr>
        <p:spPr>
          <a:xfrm>
            <a:off x="457200" y="2651760"/>
            <a:ext cx="3840480" cy="2194560"/>
          </a:xfrm>
          <a:prstGeom prst="rect">
            <a:avLst>
              <a:gd name="adj" fmla="val 4167"/>
            </a:avLst>
          </a:prstGeom>
          <a:solidFill>
            <a:srgbClr val="1A1A2E"/>
          </a:solidFill>
          <a:ln/>
        </p:spPr>
      </p:sp>
      <p:sp>
        <p:nvSpPr>
          <p:cNvPr id="6" name="Text 4"/>
          <p:cNvSpPr/>
          <p:nvPr/>
        </p:nvSpPr>
        <p:spPr>
          <a:xfrm>
            <a:off x="731520" y="2743200"/>
            <a:ext cx="3291840" cy="2011680"/>
          </a:xfrm>
          <a:prstGeom prst="rect">
            <a:avLst/>
          </a:prstGeom>
          <a:noFill/>
          <a:ln/>
        </p:spPr>
        <p:txBody>
          <a:bodyPr wrap="square" rtlCol="0" anchor="t"/>
          <a:lstStyle/>
          <a:p>
            <a:pPr indent="0" marL="0">
              <a:buNone/>
            </a:pPr>
            <a:r>
              <a:rPr lang="en-US" sz="1600" b="1" dirty="0">
                <a:solidFill>
                  <a:srgbClr val="4ADE80"/>
                </a:solidFill>
                <a:latin typeface="Arial" pitchFamily="34" charset="0"/>
                <a:ea typeface="Arial" pitchFamily="34" charset="-122"/>
                <a:cs typeface="Arial" pitchFamily="34" charset="-120"/>
              </a:rPr>
              <a:t>Why Flooding Works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200" dirty="0">
                <a:solidFill>
                  <a:srgbClr val="E2E8F0"/>
                </a:solidFill>
                <a:latin typeface="Arial" pitchFamily="34" charset="0"/>
                <a:ea typeface="Arial" pitchFamily="34" charset="-122"/>
                <a:cs typeface="Arial" pitchFamily="34" charset="-120"/>
              </a:rPr>
              <a:t>• Cobblestone generators can spread out of control
</a:t>
            </a:r>
            <a:pPr indent="0" marL="0">
              <a:buNone/>
            </a:pPr>
            <a:r>
              <a:rPr lang="en-US" sz="1200" dirty="0">
                <a:solidFill>
                  <a:srgbClr val="E2E8F0"/>
                </a:solidFill>
                <a:latin typeface="Arial" pitchFamily="34" charset="0"/>
                <a:ea typeface="Arial" pitchFamily="34" charset="-122"/>
                <a:cs typeface="Arial" pitchFamily="34" charset="-120"/>
              </a:rPr>
              <a:t>• Water removes torches and lights up hidden areas
</a:t>
            </a:r>
            <a:pPr indent="0" marL="0">
              <a:buNone/>
            </a:pPr>
            <a:r>
              <a:rPr lang="en-US" sz="1200" dirty="0">
                <a:solidFill>
                  <a:srgbClr val="E2E8F0"/>
                </a:solidFill>
                <a:latin typeface="Arial" pitchFamily="34" charset="0"/>
                <a:ea typeface="Arial" pitchFamily="34" charset="-122"/>
                <a:cs typeface="Arial" pitchFamily="34" charset="-120"/>
              </a:rPr>
              <a:t>• Flowing water slows down players during raids
</a:t>
            </a:r>
            <a:pPr indent="0" marL="0">
              <a:buNone/>
            </a:pPr>
            <a:r>
              <a:rPr lang="en-US" sz="1200" dirty="0">
                <a:solidFill>
                  <a:srgbClr val="E2E8F0"/>
                </a:solidFill>
                <a:latin typeface="Arial" pitchFamily="34" charset="0"/>
                <a:ea typeface="Arial" pitchFamily="34" charset="-122"/>
                <a:cs typeface="Arial" pitchFamily="34" charset="-120"/>
              </a:rPr>
              <a:t>• Floods expose cave systems near bases</a:t>
            </a:r>
            <a:endParaRPr lang="en-US" sz="1600" dirty="0"/>
          </a:p>
        </p:txBody>
      </p:sp>
      <p:sp>
        <p:nvSpPr>
          <p:cNvPr id="7" name="Shape 5"/>
          <p:cNvSpPr/>
          <p:nvPr/>
        </p:nvSpPr>
        <p:spPr>
          <a:xfrm>
            <a:off x="4754880" y="2651760"/>
            <a:ext cx="3931920" cy="2194560"/>
          </a:xfrm>
          <a:prstGeom prst="rect">
            <a:avLst>
              <a:gd name="adj" fmla="val 4167"/>
            </a:avLst>
          </a:prstGeom>
          <a:solidFill>
            <a:srgbClr val="1A1A2E"/>
          </a:solidFill>
          <a:ln/>
        </p:spPr>
      </p:sp>
      <p:sp>
        <p:nvSpPr>
          <p:cNvPr id="8" name="Text 6"/>
          <p:cNvSpPr/>
          <p:nvPr/>
        </p:nvSpPr>
        <p:spPr>
          <a:xfrm>
            <a:off x="5029200" y="2743200"/>
            <a:ext cx="3383280" cy="2011680"/>
          </a:xfrm>
          <a:prstGeom prst="rect">
            <a:avLst/>
          </a:prstGeom>
          <a:noFill/>
          <a:ln/>
        </p:spPr>
        <p:txBody>
          <a:bodyPr wrap="square" rtlCol="0" anchor="t"/>
          <a:lstStyle/>
          <a:p>
            <a:pPr indent="0" marL="0">
              <a:buNone/>
            </a:pPr>
            <a:r>
              <a:rPr lang="en-US" sz="1600" b="1" dirty="0">
                <a:solidFill>
                  <a:srgbClr val="22D3EE"/>
                </a:solidFill>
                <a:latin typeface="Arial" pitchFamily="34" charset="0"/>
                <a:ea typeface="Arial" pitchFamily="34" charset="-122"/>
                <a:cs typeface="Arial" pitchFamily="34" charset="-120"/>
              </a:rPr>
              <a:t>Flood Tracking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200" dirty="0">
                <a:solidFill>
                  <a:srgbClr val="E2E8F0"/>
                </a:solidFill>
                <a:latin typeface="Arial" pitchFamily="34" charset="0"/>
                <a:ea typeface="Arial" pitchFamily="34" charset="-122"/>
                <a:cs typeface="Arial" pitchFamily="34" charset="-120"/>
              </a:rPr>
              <a:t>The community tracks flooding in real-time:
</a:t>
            </a:r>
            <a:pPr indent="0" marL="0">
              <a:buNone/>
            </a:pPr>
            <a:r>
              <a:rPr lang="en-US" sz="1200" dirty="0">
                <a:solidFill>
                  <a:srgbClr val="E2E8F0"/>
                </a:solidFill>
                <a:latin typeface="Arial" pitchFamily="34" charset="0"/>
                <a:ea typeface="Arial" pitchFamily="34" charset="-122"/>
                <a:cs typeface="Arial" pitchFamily="34" charset="-120"/>
              </a:rPr>
              <a:t>• Daily flood progress across the Overworld
</a:t>
            </a:r>
            <a:pPr indent="0" marL="0">
              <a:buNone/>
            </a:pPr>
            <a:r>
              <a:rPr lang="en-US" sz="1200" dirty="0">
                <a:solidFill>
                  <a:srgbClr val="E2E8F0"/>
                </a:solidFill>
                <a:latin typeface="Arial" pitchFamily="34" charset="0"/>
                <a:ea typeface="Arial" pitchFamily="34" charset="-122"/>
                <a:cs typeface="Arial" pitchFamily="34" charset="-120"/>
              </a:rPr>
              <a:t>• Regional comparison of flooded RTP areas
</a:t>
            </a:r>
            <a:pPr indent="0" marL="0">
              <a:buNone/>
            </a:pPr>
            <a:r>
              <a:rPr lang="en-US" sz="1200" dirty="0">
                <a:solidFill>
                  <a:srgbClr val="E2E8F0"/>
                </a:solidFill>
                <a:latin typeface="Arial" pitchFamily="34" charset="0"/>
                <a:ea typeface="Arial" pitchFamily="34" charset="-122"/>
                <a:cs typeface="Arial" pitchFamily="34" charset="-120"/>
              </a:rPr>
              <a:t>• Global heatmap showing destruction zones
</a:t>
            </a:r>
            <a:pPr indent="0" marL="0">
              <a:buNone/>
            </a:pPr>
            <a:r>
              <a:rPr lang="en-US" sz="1200" dirty="0">
                <a:solidFill>
                  <a:srgbClr val="E2E8F0"/>
                </a:solidFill>
                <a:latin typeface="Arial" pitchFamily="34" charset="0"/>
                <a:ea typeface="Arial" pitchFamily="34" charset="-122"/>
                <a:cs typeface="Arial" pitchFamily="34" charset="-120"/>
              </a:rPr>
              <a:t>• 2,500 x 2,500 block grid cells tracked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Exploding Things</a:t>
            </a:r>
            <a:endParaRPr lang="en-US" sz="3600" dirty="0"/>
          </a:p>
        </p:txBody>
      </p:sp>
      <p:sp>
        <p:nvSpPr>
          <p:cNvPr id="3" name="Shape 1"/>
          <p:cNvSpPr/>
          <p:nvPr/>
        </p:nvSpPr>
        <p:spPr>
          <a:xfrm>
            <a:off x="457200" y="1097280"/>
            <a:ext cx="8229600" cy="1371600"/>
          </a:xfrm>
          <a:prstGeom prst="rect">
            <a:avLst>
              <a:gd name="adj" fmla="val 6667"/>
            </a:avLst>
          </a:prstGeom>
          <a:solidFill>
            <a:srgbClr val="7F1D1D"/>
          </a:solidFill>
          <a:ln/>
        </p:spPr>
      </p:sp>
      <p:sp>
        <p:nvSpPr>
          <p:cNvPr id="4" name="Text 2"/>
          <p:cNvSpPr/>
          <p:nvPr/>
        </p:nvSpPr>
        <p:spPr>
          <a:xfrm>
            <a:off x="731520" y="1188720"/>
            <a:ext cx="7680960" cy="1188720"/>
          </a:xfrm>
          <a:prstGeom prst="rect">
            <a:avLst/>
          </a:prstGeom>
          <a:noFill/>
          <a:ln/>
        </p:spPr>
        <p:txBody>
          <a:bodyPr wrap="square" rtlCol="0" anchor="t"/>
          <a:lstStyle/>
          <a:p>
            <a:pPr indent="0" marL="0">
              <a:buNone/>
            </a:pPr>
            <a:r>
              <a:rPr lang="en-US" sz="1800" b="1" dirty="0">
                <a:solidFill>
                  <a:srgbClr val="EF4444"/>
                </a:solidFill>
                <a:latin typeface="Arial" pitchFamily="34" charset="0"/>
                <a:ea typeface="Arial" pitchFamily="34" charset="-122"/>
                <a:cs typeface="Arial" pitchFamily="34" charset="-120"/>
              </a:rPr>
              <a:t>Charged Creepers &amp; TNT Destruction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DrDonut tested how many blocks different materials can withstand from charged creeper explosions. The results were wild — some blocks barely survive, others get obliterated.</a:t>
            </a:r>
            <a:endParaRPr lang="en-US" sz="1800" dirty="0"/>
          </a:p>
        </p:txBody>
      </p:sp>
      <p:sp>
        <p:nvSpPr>
          <p:cNvPr id="5" name="Shape 3"/>
          <p:cNvSpPr/>
          <p:nvPr/>
        </p:nvSpPr>
        <p:spPr>
          <a:xfrm>
            <a:off x="457200" y="2651760"/>
            <a:ext cx="1508760" cy="1188720"/>
          </a:xfrm>
          <a:prstGeom prst="rect">
            <a:avLst>
              <a:gd name="adj" fmla="val 6154"/>
            </a:avLst>
          </a:prstGeom>
          <a:solidFill>
            <a:srgbClr val="1A1A2E"/>
          </a:solidFill>
          <a:ln/>
        </p:spPr>
      </p:sp>
      <p:sp>
        <p:nvSpPr>
          <p:cNvPr id="6" name="Text 4"/>
          <p:cNvSpPr/>
          <p:nvPr/>
        </p:nvSpPr>
        <p:spPr>
          <a:xfrm>
            <a:off x="457200" y="2697480"/>
            <a:ext cx="1508760" cy="457200"/>
          </a:xfrm>
          <a:prstGeom prst="rect">
            <a:avLst/>
          </a:prstGeom>
          <a:noFill/>
          <a:ln/>
        </p:spPr>
        <p:txBody>
          <a:bodyPr wrap="square" rtlCol="0" anchor="ctr"/>
          <a:lstStyle/>
          <a:p>
            <a:pPr algn="ctr" indent="0" marL="0">
              <a:buNone/>
            </a:pPr>
            <a:r>
              <a:rPr lang="en-US" sz="1100" b="1" dirty="0">
                <a:solidFill>
                  <a:srgbClr val="F97316"/>
                </a:solidFill>
                <a:latin typeface="Arial" pitchFamily="34" charset="0"/>
                <a:ea typeface="Arial" pitchFamily="34" charset="-122"/>
                <a:cs typeface="Arial" pitchFamily="34" charset="-120"/>
              </a:rPr>
              <a:t>Dirt</a:t>
            </a:r>
            <a:endParaRPr lang="en-US" sz="1100" dirty="0"/>
          </a:p>
        </p:txBody>
      </p:sp>
      <p:sp>
        <p:nvSpPr>
          <p:cNvPr id="7" name="Text 5"/>
          <p:cNvSpPr/>
          <p:nvPr/>
        </p:nvSpPr>
        <p:spPr>
          <a:xfrm>
            <a:off x="457200" y="3108960"/>
            <a:ext cx="150876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~173</a:t>
            </a:r>
            <a:endParaRPr lang="en-US" sz="2000" dirty="0"/>
          </a:p>
        </p:txBody>
      </p:sp>
      <p:sp>
        <p:nvSpPr>
          <p:cNvPr id="8" name="Text 6"/>
          <p:cNvSpPr/>
          <p:nvPr/>
        </p:nvSpPr>
        <p:spPr>
          <a:xfrm>
            <a:off x="457200" y="3520440"/>
            <a:ext cx="150876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blocks</a:t>
            </a:r>
            <a:endParaRPr lang="en-US" sz="900" dirty="0"/>
          </a:p>
        </p:txBody>
      </p:sp>
      <p:sp>
        <p:nvSpPr>
          <p:cNvPr id="9" name="Shape 7"/>
          <p:cNvSpPr/>
          <p:nvPr/>
        </p:nvSpPr>
        <p:spPr>
          <a:xfrm>
            <a:off x="2148840" y="2651760"/>
            <a:ext cx="1508760" cy="1188720"/>
          </a:xfrm>
          <a:prstGeom prst="rect">
            <a:avLst>
              <a:gd name="adj" fmla="val 6154"/>
            </a:avLst>
          </a:prstGeom>
          <a:solidFill>
            <a:srgbClr val="1A1A2E"/>
          </a:solidFill>
          <a:ln/>
        </p:spPr>
      </p:sp>
      <p:sp>
        <p:nvSpPr>
          <p:cNvPr id="10" name="Text 8"/>
          <p:cNvSpPr/>
          <p:nvPr/>
        </p:nvSpPr>
        <p:spPr>
          <a:xfrm>
            <a:off x="2148840" y="2697480"/>
            <a:ext cx="1508760" cy="457200"/>
          </a:xfrm>
          <a:prstGeom prst="rect">
            <a:avLst/>
          </a:prstGeom>
          <a:noFill/>
          <a:ln/>
        </p:spPr>
        <p:txBody>
          <a:bodyPr wrap="square" rtlCol="0" anchor="ctr"/>
          <a:lstStyle/>
          <a:p>
            <a:pPr algn="ctr" indent="0" marL="0">
              <a:buNone/>
            </a:pPr>
            <a:r>
              <a:rPr lang="en-US" sz="1100" b="1" dirty="0">
                <a:solidFill>
                  <a:srgbClr val="94A3B8"/>
                </a:solidFill>
                <a:latin typeface="Arial" pitchFamily="34" charset="0"/>
                <a:ea typeface="Arial" pitchFamily="34" charset="-122"/>
                <a:cs typeface="Arial" pitchFamily="34" charset="-120"/>
              </a:rPr>
              <a:t>Cobblestone</a:t>
            </a:r>
            <a:endParaRPr lang="en-US" sz="1100" dirty="0"/>
          </a:p>
        </p:txBody>
      </p:sp>
      <p:sp>
        <p:nvSpPr>
          <p:cNvPr id="11" name="Text 9"/>
          <p:cNvSpPr/>
          <p:nvPr/>
        </p:nvSpPr>
        <p:spPr>
          <a:xfrm>
            <a:off x="2148840" y="3108960"/>
            <a:ext cx="150876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8</a:t>
            </a:r>
            <a:endParaRPr lang="en-US" sz="2000" dirty="0"/>
          </a:p>
        </p:txBody>
      </p:sp>
      <p:sp>
        <p:nvSpPr>
          <p:cNvPr id="12" name="Text 10"/>
          <p:cNvSpPr/>
          <p:nvPr/>
        </p:nvSpPr>
        <p:spPr>
          <a:xfrm>
            <a:off x="2148840" y="3520440"/>
            <a:ext cx="150876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blocks</a:t>
            </a:r>
            <a:endParaRPr lang="en-US" sz="900" dirty="0"/>
          </a:p>
        </p:txBody>
      </p:sp>
      <p:sp>
        <p:nvSpPr>
          <p:cNvPr id="13" name="Shape 11"/>
          <p:cNvSpPr/>
          <p:nvPr/>
        </p:nvSpPr>
        <p:spPr>
          <a:xfrm>
            <a:off x="3840480" y="2651760"/>
            <a:ext cx="1508760" cy="1188720"/>
          </a:xfrm>
          <a:prstGeom prst="rect">
            <a:avLst>
              <a:gd name="adj" fmla="val 6154"/>
            </a:avLst>
          </a:prstGeom>
          <a:solidFill>
            <a:srgbClr val="1A1A2E"/>
          </a:solidFill>
          <a:ln/>
        </p:spPr>
      </p:sp>
      <p:sp>
        <p:nvSpPr>
          <p:cNvPr id="14" name="Text 12"/>
          <p:cNvSpPr/>
          <p:nvPr/>
        </p:nvSpPr>
        <p:spPr>
          <a:xfrm>
            <a:off x="3840480" y="2697480"/>
            <a:ext cx="1508760" cy="457200"/>
          </a:xfrm>
          <a:prstGeom prst="rect">
            <a:avLst/>
          </a:prstGeom>
          <a:noFill/>
          <a:ln/>
        </p:spPr>
        <p:txBody>
          <a:bodyPr wrap="square" rtlCol="0" anchor="ctr"/>
          <a:lstStyle/>
          <a:p>
            <a:pPr algn="ctr" indent="0" marL="0">
              <a:buNone/>
            </a:pPr>
            <a:r>
              <a:rPr lang="en-US" sz="1100" b="1" dirty="0">
                <a:solidFill>
                  <a:srgbClr val="F97316"/>
                </a:solidFill>
                <a:latin typeface="Arial" pitchFamily="34" charset="0"/>
                <a:ea typeface="Arial" pitchFamily="34" charset="-122"/>
                <a:cs typeface="Arial" pitchFamily="34" charset="-120"/>
              </a:rPr>
              <a:t>Oak Planks</a:t>
            </a:r>
            <a:endParaRPr lang="en-US" sz="1100" dirty="0"/>
          </a:p>
        </p:txBody>
      </p:sp>
      <p:sp>
        <p:nvSpPr>
          <p:cNvPr id="15" name="Text 13"/>
          <p:cNvSpPr/>
          <p:nvPr/>
        </p:nvSpPr>
        <p:spPr>
          <a:xfrm>
            <a:off x="3840480" y="3108960"/>
            <a:ext cx="150876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21</a:t>
            </a:r>
            <a:endParaRPr lang="en-US" sz="2000" dirty="0"/>
          </a:p>
        </p:txBody>
      </p:sp>
      <p:sp>
        <p:nvSpPr>
          <p:cNvPr id="16" name="Text 14"/>
          <p:cNvSpPr/>
          <p:nvPr/>
        </p:nvSpPr>
        <p:spPr>
          <a:xfrm>
            <a:off x="3840480" y="3520440"/>
            <a:ext cx="150876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blocks</a:t>
            </a:r>
            <a:endParaRPr lang="en-US" sz="900" dirty="0"/>
          </a:p>
        </p:txBody>
      </p:sp>
      <p:sp>
        <p:nvSpPr>
          <p:cNvPr id="17" name="Shape 15"/>
          <p:cNvSpPr/>
          <p:nvPr/>
        </p:nvSpPr>
        <p:spPr>
          <a:xfrm>
            <a:off x="5532120" y="2651760"/>
            <a:ext cx="1508760" cy="1188720"/>
          </a:xfrm>
          <a:prstGeom prst="rect">
            <a:avLst>
              <a:gd name="adj" fmla="val 6154"/>
            </a:avLst>
          </a:prstGeom>
          <a:solidFill>
            <a:srgbClr val="1A1A2E"/>
          </a:solidFill>
          <a:ln/>
        </p:spPr>
      </p:sp>
      <p:sp>
        <p:nvSpPr>
          <p:cNvPr id="18" name="Text 16"/>
          <p:cNvSpPr/>
          <p:nvPr/>
        </p:nvSpPr>
        <p:spPr>
          <a:xfrm>
            <a:off x="5532120" y="2697480"/>
            <a:ext cx="1508760" cy="457200"/>
          </a:xfrm>
          <a:prstGeom prst="rect">
            <a:avLst/>
          </a:prstGeom>
          <a:noFill/>
          <a:ln/>
        </p:spPr>
        <p:txBody>
          <a:bodyPr wrap="square"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Glass</a:t>
            </a:r>
            <a:endParaRPr lang="en-US" sz="1100" dirty="0"/>
          </a:p>
        </p:txBody>
      </p:sp>
      <p:sp>
        <p:nvSpPr>
          <p:cNvPr id="19" name="Text 17"/>
          <p:cNvSpPr/>
          <p:nvPr/>
        </p:nvSpPr>
        <p:spPr>
          <a:xfrm>
            <a:off x="5532120" y="3108960"/>
            <a:ext cx="150876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286</a:t>
            </a:r>
            <a:endParaRPr lang="en-US" sz="2000" dirty="0"/>
          </a:p>
        </p:txBody>
      </p:sp>
      <p:sp>
        <p:nvSpPr>
          <p:cNvPr id="20" name="Text 18"/>
          <p:cNvSpPr/>
          <p:nvPr/>
        </p:nvSpPr>
        <p:spPr>
          <a:xfrm>
            <a:off x="5532120" y="3520440"/>
            <a:ext cx="150876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blocks</a:t>
            </a:r>
            <a:endParaRPr lang="en-US" sz="900" dirty="0"/>
          </a:p>
        </p:txBody>
      </p:sp>
      <p:sp>
        <p:nvSpPr>
          <p:cNvPr id="21" name="Shape 19"/>
          <p:cNvSpPr/>
          <p:nvPr/>
        </p:nvSpPr>
        <p:spPr>
          <a:xfrm>
            <a:off x="7223760" y="2651760"/>
            <a:ext cx="1508760" cy="1188720"/>
          </a:xfrm>
          <a:prstGeom prst="rect">
            <a:avLst>
              <a:gd name="adj" fmla="val 6154"/>
            </a:avLst>
          </a:prstGeom>
          <a:solidFill>
            <a:srgbClr val="1A1A2E"/>
          </a:solidFill>
          <a:ln/>
        </p:spPr>
      </p:sp>
      <p:sp>
        <p:nvSpPr>
          <p:cNvPr id="22" name="Text 20"/>
          <p:cNvSpPr/>
          <p:nvPr/>
        </p:nvSpPr>
        <p:spPr>
          <a:xfrm>
            <a:off x="7223760" y="2697480"/>
            <a:ext cx="1508760" cy="457200"/>
          </a:xfrm>
          <a:prstGeom prst="rect">
            <a:avLst/>
          </a:prstGeom>
          <a:noFill/>
          <a:ln/>
        </p:spPr>
        <p:txBody>
          <a:bodyPr wrap="square" rtlCol="0" anchor="ctr"/>
          <a:lstStyle/>
          <a:p>
            <a:pPr algn="ctr" indent="0" marL="0">
              <a:buNone/>
            </a:pPr>
            <a:r>
              <a:rPr lang="en-US" sz="1100" b="1" dirty="0">
                <a:solidFill>
                  <a:srgbClr val="4ADE80"/>
                </a:solidFill>
                <a:latin typeface="Arial" pitchFamily="34" charset="0"/>
                <a:ea typeface="Arial" pitchFamily="34" charset="-122"/>
                <a:cs typeface="Arial" pitchFamily="34" charset="-120"/>
              </a:rPr>
              <a:t>Slime Blocks</a:t>
            </a:r>
            <a:endParaRPr lang="en-US" sz="1100" dirty="0"/>
          </a:p>
        </p:txBody>
      </p:sp>
      <p:sp>
        <p:nvSpPr>
          <p:cNvPr id="23" name="Text 21"/>
          <p:cNvSpPr/>
          <p:nvPr/>
        </p:nvSpPr>
        <p:spPr>
          <a:xfrm>
            <a:off x="7223760" y="3108960"/>
            <a:ext cx="150876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~367</a:t>
            </a:r>
            <a:endParaRPr lang="en-US" sz="2000" dirty="0"/>
          </a:p>
        </p:txBody>
      </p:sp>
      <p:sp>
        <p:nvSpPr>
          <p:cNvPr id="24" name="Text 22"/>
          <p:cNvSpPr/>
          <p:nvPr/>
        </p:nvSpPr>
        <p:spPr>
          <a:xfrm>
            <a:off x="7223760" y="3520440"/>
            <a:ext cx="150876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blocks</a:t>
            </a:r>
            <a:endParaRPr lang="en-US" sz="900" dirty="0"/>
          </a:p>
        </p:txBody>
      </p:sp>
      <p:sp>
        <p:nvSpPr>
          <p:cNvPr id="25" name="Shape 23"/>
          <p:cNvSpPr/>
          <p:nvPr/>
        </p:nvSpPr>
        <p:spPr>
          <a:xfrm>
            <a:off x="457200" y="4023360"/>
            <a:ext cx="8229600" cy="914400"/>
          </a:xfrm>
          <a:prstGeom prst="rect">
            <a:avLst>
              <a:gd name="adj" fmla="val 10000"/>
            </a:avLst>
          </a:prstGeom>
          <a:solidFill>
            <a:srgbClr val="1A1A2E"/>
          </a:solidFill>
          <a:ln/>
        </p:spPr>
      </p:sp>
      <p:sp>
        <p:nvSpPr>
          <p:cNvPr id="26" name="Text 24"/>
          <p:cNvSpPr/>
          <p:nvPr/>
        </p:nvSpPr>
        <p:spPr>
          <a:xfrm>
            <a:off x="731520" y="4114800"/>
            <a:ext cx="7680960" cy="73152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He also tested 500 TNT vs a creeper — </a:t>
            </a:r>
            <a:pPr indent="0" marL="0">
              <a:buNone/>
            </a:pPr>
            <a:r>
              <a:rPr lang="en-US" sz="1300" b="1" dirty="0">
                <a:solidFill>
                  <a:srgbClr val="F97316"/>
                </a:solidFill>
                <a:latin typeface="Arial" pitchFamily="34" charset="0"/>
                <a:ea typeface="Arial" pitchFamily="34" charset="-122"/>
                <a:cs typeface="Arial" pitchFamily="34" charset="-120"/>
              </a:rPr>
              <a:t>his PC barely lagged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Drainers</a:t>
            </a:r>
            <a:endParaRPr lang="en-US" sz="3600" dirty="0"/>
          </a:p>
        </p:txBody>
      </p:sp>
      <p:sp>
        <p:nvSpPr>
          <p:cNvPr id="3" name="Text 1"/>
          <p:cNvSpPr/>
          <p:nvPr/>
        </p:nvSpPr>
        <p:spPr>
          <a:xfrm>
            <a:off x="457200" y="822960"/>
            <a:ext cx="8229600" cy="457200"/>
          </a:xfrm>
          <a:prstGeom prst="rect">
            <a:avLst/>
          </a:prstGeom>
          <a:noFill/>
          <a:ln/>
        </p:spPr>
        <p:txBody>
          <a:bodyPr wrap="square" rtlCol="0" anchor="ctr"/>
          <a:lstStyle/>
          <a:p>
            <a:pPr indent="0" marL="0">
              <a:buNone/>
            </a:pPr>
            <a:r>
              <a:rPr lang="en-US" sz="1600" dirty="0">
                <a:solidFill>
                  <a:srgbClr val="94A3B8"/>
                </a:solidFill>
                <a:latin typeface="Arial" pitchFamily="34" charset="0"/>
                <a:ea typeface="Arial" pitchFamily="34" charset="-122"/>
                <a:cs typeface="Arial" pitchFamily="34" charset="-120"/>
              </a:rPr>
              <a:t>Water &amp; Lava Control Tools</a:t>
            </a:r>
            <a:endParaRPr lang="en-US" sz="1600" dirty="0"/>
          </a:p>
        </p:txBody>
      </p:sp>
      <p:sp>
        <p:nvSpPr>
          <p:cNvPr id="4" name="Shape 2"/>
          <p:cNvSpPr/>
          <p:nvPr/>
        </p:nvSpPr>
        <p:spPr>
          <a:xfrm>
            <a:off x="457200" y="1463040"/>
            <a:ext cx="3840480" cy="3200400"/>
          </a:xfrm>
          <a:prstGeom prst="rect">
            <a:avLst>
              <a:gd name="adj" fmla="val 2857"/>
            </a:avLst>
          </a:prstGeom>
          <a:solidFill>
            <a:srgbClr val="1A1A2E"/>
          </a:solidFill>
          <a:ln/>
        </p:spPr>
      </p:sp>
      <p:sp>
        <p:nvSpPr>
          <p:cNvPr id="5" name="Text 3"/>
          <p:cNvSpPr/>
          <p:nvPr/>
        </p:nvSpPr>
        <p:spPr>
          <a:xfrm>
            <a:off x="731520" y="1645920"/>
            <a:ext cx="3291840" cy="2834640"/>
          </a:xfrm>
          <a:prstGeom prst="rect">
            <a:avLst/>
          </a:prstGeom>
          <a:noFill/>
          <a:ln/>
        </p:spPr>
        <p:txBody>
          <a:bodyPr wrap="square" rtlCol="0" anchor="t"/>
          <a:lstStyle/>
          <a:p>
            <a:pPr indent="0" marL="0">
              <a:buNone/>
            </a:pPr>
            <a:r>
              <a:rPr lang="en-US" sz="1800" b="1" dirty="0">
                <a:solidFill>
                  <a:srgbClr val="4ADE80"/>
                </a:solidFill>
                <a:latin typeface="Arial" pitchFamily="34" charset="0"/>
                <a:ea typeface="Arial" pitchFamily="34" charset="-122"/>
                <a:cs typeface="Arial" pitchFamily="34" charset="-120"/>
              </a:rPr>
              <a:t>What Drainers Do
</a:t>
            </a:r>
            <a:pPr indent="0" marL="0">
              <a:buNone/>
            </a:pPr>
            <a:r>
              <a:rPr lang="en-US" sz="8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Drainer blocks remove fluid from the world and store it internally.
</a:t>
            </a:r>
            <a:pPr indent="0" marL="0">
              <a:buNone/>
            </a:pPr>
            <a:r>
              <a:rPr lang="en-US" sz="1300" dirty="0">
                <a:solidFill>
                  <a:srgbClr val="E2E8F0"/>
                </a:solidFill>
                <a:latin typeface="Arial" pitchFamily="34" charset="0"/>
                <a:ea typeface="Arial" pitchFamily="34" charset="-122"/>
                <a:cs typeface="Arial" pitchFamily="34" charset="-120"/>
              </a:rPr>
              <a:t>When a source block sits above a drain, it gets removed. Flowing blocks trigger the nearest connected source to drain.
</a:t>
            </a:r>
            <a:pPr indent="0" marL="0">
              <a:buNone/>
            </a:pPr>
            <a:r>
              <a:rPr lang="en-US" sz="1300" dirty="0">
                <a:solidFill>
                  <a:srgbClr val="E2E8F0"/>
                </a:solidFill>
                <a:latin typeface="Arial" pitchFamily="34" charset="0"/>
                <a:ea typeface="Arial" pitchFamily="34" charset="-122"/>
                <a:cs typeface="Arial" pitchFamily="34" charset="-120"/>
              </a:rPr>
              <a:t>A single drain at the bottom can empty an entire pool of fluid.
</a:t>
            </a:r>
            <a:pPr indent="0" marL="0">
              <a:buNone/>
            </a:pPr>
            <a:r>
              <a:rPr lang="en-US" sz="1300" dirty="0">
                <a:solidFill>
                  <a:srgbClr val="E2E8F0"/>
                </a:solidFill>
                <a:latin typeface="Arial" pitchFamily="34" charset="0"/>
                <a:ea typeface="Arial" pitchFamily="34" charset="-122"/>
                <a:cs typeface="Arial" pitchFamily="34" charset="-120"/>
              </a:rPr>
              <a:t>Infinite water sources can feed drainers continuously.</a:t>
            </a:r>
            <a:endParaRPr lang="en-US" sz="1800" dirty="0"/>
          </a:p>
        </p:txBody>
      </p:sp>
      <p:sp>
        <p:nvSpPr>
          <p:cNvPr id="6" name="Shape 4"/>
          <p:cNvSpPr/>
          <p:nvPr/>
        </p:nvSpPr>
        <p:spPr>
          <a:xfrm>
            <a:off x="4754880" y="1463040"/>
            <a:ext cx="3931920" cy="3200400"/>
          </a:xfrm>
          <a:prstGeom prst="rect">
            <a:avLst>
              <a:gd name="adj" fmla="val 2857"/>
            </a:avLst>
          </a:prstGeom>
          <a:solidFill>
            <a:srgbClr val="1A1A2E"/>
          </a:solidFill>
          <a:ln/>
        </p:spPr>
      </p:sp>
      <p:sp>
        <p:nvSpPr>
          <p:cNvPr id="7" name="Text 5"/>
          <p:cNvSpPr/>
          <p:nvPr/>
        </p:nvSpPr>
        <p:spPr>
          <a:xfrm>
            <a:off x="5029200" y="1645920"/>
            <a:ext cx="3383280" cy="2834640"/>
          </a:xfrm>
          <a:prstGeom prst="rect">
            <a:avLst/>
          </a:prstGeom>
          <a:noFill/>
          <a:ln/>
        </p:spPr>
        <p:txBody>
          <a:bodyPr wrap="square" rtlCol="0" anchor="t"/>
          <a:lstStyle/>
          <a:p>
            <a:pPr indent="0" marL="0">
              <a:buNone/>
            </a:pPr>
            <a:r>
              <a:rPr lang="en-US" sz="1800" b="1" dirty="0">
                <a:solidFill>
                  <a:srgbClr val="22D3EE"/>
                </a:solidFill>
                <a:latin typeface="Arial" pitchFamily="34" charset="0"/>
                <a:ea typeface="Arial" pitchFamily="34" charset="-122"/>
                <a:cs typeface="Arial" pitchFamily="34" charset="-120"/>
              </a:rPr>
              <a:t>Why They Matter on DonutSMP
</a:t>
            </a:r>
            <a:pPr indent="0" marL="0">
              <a:buNone/>
            </a:pPr>
            <a:r>
              <a:rPr lang="en-US" sz="8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 Clear lava around bases before raiding
</a:t>
            </a:r>
            <a:pPr indent="0" marL="0">
              <a:buNone/>
            </a:pPr>
            <a:r>
              <a:rPr lang="en-US" sz="1300" dirty="0">
                <a:solidFill>
                  <a:srgbClr val="E2E8F0"/>
                </a:solidFill>
                <a:latin typeface="Arial" pitchFamily="34" charset="0"/>
                <a:ea typeface="Arial" pitchFamily="34" charset="-122"/>
                <a:cs typeface="Arial" pitchFamily="34" charset="-120"/>
              </a:rPr>
              <a:t>• Drain water traps set by enemy players
</a:t>
            </a:r>
            <a:pPr indent="0" marL="0">
              <a:buNone/>
            </a:pPr>
            <a:r>
              <a:rPr lang="en-US" sz="1300" dirty="0">
                <a:solidFill>
                  <a:srgbClr val="E2E8F0"/>
                </a:solidFill>
                <a:latin typeface="Arial" pitchFamily="34" charset="0"/>
                <a:ea typeface="Arial" pitchFamily="34" charset="-122"/>
                <a:cs typeface="Arial" pitchFamily="34" charset="-120"/>
              </a:rPr>
              <a:t>• Expose hidden chests under lava lakes
</a:t>
            </a:r>
            <a:pPr indent="0" marL="0">
              <a:buNone/>
            </a:pPr>
            <a:r>
              <a:rPr lang="en-US" sz="1300" dirty="0">
                <a:solidFill>
                  <a:srgbClr val="E2E8F0"/>
                </a:solidFill>
                <a:latin typeface="Arial" pitchFamily="34" charset="0"/>
                <a:ea typeface="Arial" pitchFamily="34" charset="-122"/>
                <a:cs typeface="Arial" pitchFamily="34" charset="-120"/>
              </a:rPr>
              <a:t>• Control fluid flow during base defense
</a:t>
            </a:r>
            <a:pPr indent="0" marL="0">
              <a:buNone/>
            </a:pPr>
            <a:r>
              <a:rPr lang="en-US" sz="1300" dirty="0">
                <a:solidFill>
                  <a:srgbClr val="E2E8F0"/>
                </a:solidFill>
                <a:latin typeface="Arial" pitchFamily="34" charset="0"/>
                <a:ea typeface="Arial" pitchFamily="34" charset="-122"/>
                <a:cs typeface="Arial" pitchFamily="34" charset="-120"/>
              </a:rPr>
              <a:t>• Essential for finding ancient debris under lava
</a:t>
            </a:r>
            <a:pPr indent="0" marL="0">
              <a:buNone/>
            </a:pPr>
            <a:r>
              <a:rPr lang="en-US" sz="1300" b="1" dirty="0">
                <a:solidFill>
                  <a:srgbClr val="4ADE80"/>
                </a:solidFill>
                <a:latin typeface="Arial" pitchFamily="34" charset="0"/>
                <a:ea typeface="Arial" pitchFamily="34" charset="-122"/>
                <a:cs typeface="Arial" pitchFamily="34" charset="-120"/>
              </a:rPr>
              <a:t>Drainers turn the environment from obstacle into advantage.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Lava Mechanics</a:t>
            </a:r>
            <a:endParaRPr lang="en-US" sz="3600" dirty="0"/>
          </a:p>
        </p:txBody>
      </p:sp>
      <p:sp>
        <p:nvSpPr>
          <p:cNvPr id="3" name="Shape 1"/>
          <p:cNvSpPr/>
          <p:nvPr/>
        </p:nvSpPr>
        <p:spPr>
          <a:xfrm>
            <a:off x="457200" y="1097280"/>
            <a:ext cx="8229600" cy="1371600"/>
          </a:xfrm>
          <a:prstGeom prst="rect">
            <a:avLst>
              <a:gd name="adj" fmla="val 6667"/>
            </a:avLst>
          </a:prstGeom>
          <a:solidFill>
            <a:srgbClr val="78350F"/>
          </a:solidFill>
          <a:ln/>
        </p:spPr>
      </p:sp>
      <p:sp>
        <p:nvSpPr>
          <p:cNvPr id="4" name="Text 2"/>
          <p:cNvSpPr/>
          <p:nvPr/>
        </p:nvSpPr>
        <p:spPr>
          <a:xfrm>
            <a:off x="731520" y="1188720"/>
            <a:ext cx="7680960" cy="1188720"/>
          </a:xfrm>
          <a:prstGeom prst="rect">
            <a:avLst/>
          </a:prstGeom>
          <a:noFill/>
          <a:ln/>
        </p:spPr>
        <p:txBody>
          <a:bodyPr wrap="square" rtlCol="0" anchor="t"/>
          <a:lstStyle/>
          <a:p>
            <a:pPr indent="0" marL="0">
              <a:buNone/>
            </a:pPr>
            <a:r>
              <a:rPr lang="en-US" sz="1800" b="1" dirty="0">
                <a:solidFill>
                  <a:srgbClr val="F97316"/>
                </a:solidFill>
                <a:latin typeface="Arial" pitchFamily="34" charset="0"/>
                <a:ea typeface="Arial" pitchFamily="34" charset="-122"/>
                <a:cs typeface="Arial" pitchFamily="34" charset="-120"/>
              </a:rPr>
              <a:t>The Double-Edged Sword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Lava is everywhere on DonutSMP — hiding bases, trapping players, and exposing ancient debris. DrDonut found a trick to see through lava using fire resistance and a simple block trick to lower your FOV.</a:t>
            </a:r>
            <a:endParaRPr lang="en-US" sz="1800" dirty="0"/>
          </a:p>
        </p:txBody>
      </p:sp>
      <p:sp>
        <p:nvSpPr>
          <p:cNvPr id="5" name="Shape 3"/>
          <p:cNvSpPr/>
          <p:nvPr/>
        </p:nvSpPr>
        <p:spPr>
          <a:xfrm>
            <a:off x="457200" y="2651760"/>
            <a:ext cx="3840480" cy="2194560"/>
          </a:xfrm>
          <a:prstGeom prst="rect">
            <a:avLst>
              <a:gd name="adj" fmla="val 4167"/>
            </a:avLst>
          </a:prstGeom>
          <a:solidFill>
            <a:srgbClr val="1A1A2E"/>
          </a:solidFill>
          <a:ln/>
        </p:spPr>
      </p:sp>
      <p:sp>
        <p:nvSpPr>
          <p:cNvPr id="6" name="Text 4"/>
          <p:cNvSpPr/>
          <p:nvPr/>
        </p:nvSpPr>
        <p:spPr>
          <a:xfrm>
            <a:off x="731520" y="2743200"/>
            <a:ext cx="3291840" cy="2011680"/>
          </a:xfrm>
          <a:prstGeom prst="rect">
            <a:avLst/>
          </a:prstGeom>
          <a:noFill/>
          <a:ln/>
        </p:spPr>
        <p:txBody>
          <a:bodyPr wrap="square" rtlCol="0" anchor="t"/>
          <a:lstStyle/>
          <a:p>
            <a:pPr indent="0" marL="0">
              <a:buNone/>
            </a:pPr>
            <a:r>
              <a:rPr lang="en-US" sz="1600" b="1" dirty="0">
                <a:solidFill>
                  <a:srgbClr val="EF4444"/>
                </a:solidFill>
                <a:latin typeface="Arial" pitchFamily="34" charset="0"/>
                <a:ea typeface="Arial" pitchFamily="34" charset="-122"/>
                <a:cs typeface="Arial" pitchFamily="34" charset="-120"/>
              </a:rPr>
              <a:t>Lava as Offense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200" dirty="0">
                <a:solidFill>
                  <a:srgbClr val="E2E8F0"/>
                </a:solidFill>
                <a:latin typeface="Arial" pitchFamily="34" charset="0"/>
                <a:ea typeface="Arial" pitchFamily="34" charset="-122"/>
                <a:cs typeface="Arial" pitchFamily="34" charset="-120"/>
              </a:rPr>
              <a:t>• Pour lava on enemy farms to destroy crops
</a:t>
            </a:r>
            <a:pPr indent="0" marL="0">
              <a:buNone/>
            </a:pPr>
            <a:r>
              <a:rPr lang="en-US" sz="1200" dirty="0">
                <a:solidFill>
                  <a:srgbClr val="E2E8F0"/>
                </a:solidFill>
                <a:latin typeface="Arial" pitchFamily="34" charset="0"/>
                <a:ea typeface="Arial" pitchFamily="34" charset="-122"/>
                <a:cs typeface="Arial" pitchFamily="34" charset="-120"/>
              </a:rPr>
              <a:t>• Block doorways during raids
</a:t>
            </a:r>
            <a:pPr indent="0" marL="0">
              <a:buNone/>
            </a:pPr>
            <a:r>
              <a:rPr lang="en-US" sz="1200" dirty="0">
                <a:solidFill>
                  <a:srgbClr val="E2E8F0"/>
                </a:solidFill>
                <a:latin typeface="Arial" pitchFamily="34" charset="0"/>
                <a:ea typeface="Arial" pitchFamily="34" charset="-122"/>
                <a:cs typeface="Arial" pitchFamily="34" charset="-120"/>
              </a:rPr>
              <a:t>• Create lava walls for base defense
</a:t>
            </a:r>
            <a:pPr indent="0" marL="0">
              <a:buNone/>
            </a:pPr>
            <a:r>
              <a:rPr lang="en-US" sz="1200" dirty="0">
                <a:solidFill>
                  <a:srgbClr val="E2E8F0"/>
                </a:solidFill>
                <a:latin typeface="Arial" pitchFamily="34" charset="0"/>
                <a:ea typeface="Arial" pitchFamily="34" charset="-122"/>
                <a:cs typeface="Arial" pitchFamily="34" charset="-120"/>
              </a:rPr>
              <a:t>• Lava bucket PvP in close quarters
</a:t>
            </a:r>
            <a:pPr indent="0" marL="0">
              <a:buNone/>
            </a:pPr>
            <a:r>
              <a:rPr lang="en-US" sz="1200" dirty="0">
                <a:solidFill>
                  <a:srgbClr val="E2E8F0"/>
                </a:solidFill>
                <a:latin typeface="Arial" pitchFamily="34" charset="0"/>
                <a:ea typeface="Arial" pitchFamily="34" charset="-122"/>
                <a:cs typeface="Arial" pitchFamily="34" charset="-120"/>
              </a:rPr>
              <a:t>• Set traps with hidden lava pockets</a:t>
            </a:r>
            <a:endParaRPr lang="en-US" sz="1600" dirty="0"/>
          </a:p>
        </p:txBody>
      </p:sp>
      <p:sp>
        <p:nvSpPr>
          <p:cNvPr id="7" name="Shape 5"/>
          <p:cNvSpPr/>
          <p:nvPr/>
        </p:nvSpPr>
        <p:spPr>
          <a:xfrm>
            <a:off x="4754880" y="2651760"/>
            <a:ext cx="3931920" cy="2194560"/>
          </a:xfrm>
          <a:prstGeom prst="rect">
            <a:avLst>
              <a:gd name="adj" fmla="val 4167"/>
            </a:avLst>
          </a:prstGeom>
          <a:solidFill>
            <a:srgbClr val="1A1A2E"/>
          </a:solidFill>
          <a:ln/>
        </p:spPr>
      </p:sp>
      <p:sp>
        <p:nvSpPr>
          <p:cNvPr id="8" name="Text 6"/>
          <p:cNvSpPr/>
          <p:nvPr/>
        </p:nvSpPr>
        <p:spPr>
          <a:xfrm>
            <a:off x="5029200" y="2743200"/>
            <a:ext cx="3383280" cy="2011680"/>
          </a:xfrm>
          <a:prstGeom prst="rect">
            <a:avLst/>
          </a:prstGeom>
          <a:noFill/>
          <a:ln/>
        </p:spPr>
        <p:txBody>
          <a:bodyPr wrap="square" rtlCol="0" anchor="t"/>
          <a:lstStyle/>
          <a:p>
            <a:pPr indent="0" marL="0">
              <a:buNone/>
            </a:pPr>
            <a:r>
              <a:rPr lang="en-US" sz="1600" b="1" dirty="0">
                <a:solidFill>
                  <a:srgbClr val="4ADE80"/>
                </a:solidFill>
                <a:latin typeface="Arial" pitchFamily="34" charset="0"/>
                <a:ea typeface="Arial" pitchFamily="34" charset="-122"/>
                <a:cs typeface="Arial" pitchFamily="34" charset="-120"/>
              </a:rPr>
              <a:t>Lava as Defense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200" dirty="0">
                <a:solidFill>
                  <a:srgbClr val="E2E8F0"/>
                </a:solidFill>
                <a:latin typeface="Arial" pitchFamily="34" charset="0"/>
                <a:ea typeface="Arial" pitchFamily="34" charset="-122"/>
                <a:cs typeface="Arial" pitchFamily="34" charset="-120"/>
              </a:rPr>
              <a:t>• Cover base entrances with lava
</a:t>
            </a:r>
            <a:pPr indent="0" marL="0">
              <a:buNone/>
            </a:pPr>
            <a:r>
              <a:rPr lang="en-US" sz="1200" dirty="0">
                <a:solidFill>
                  <a:srgbClr val="E2E8F0"/>
                </a:solidFill>
                <a:latin typeface="Arial" pitchFamily="34" charset="0"/>
                <a:ea typeface="Arial" pitchFamily="34" charset="-122"/>
                <a:cs typeface="Arial" pitchFamily="34" charset="-120"/>
              </a:rPr>
              <a:t>• Hide chests under lava lakes
</a:t>
            </a:r>
            <a:pPr indent="0" marL="0">
              <a:buNone/>
            </a:pPr>
            <a:r>
              <a:rPr lang="en-US" sz="1200" dirty="0">
                <a:solidFill>
                  <a:srgbClr val="E2E8F0"/>
                </a:solidFill>
                <a:latin typeface="Arial" pitchFamily="34" charset="0"/>
                <a:ea typeface="Arial" pitchFamily="34" charset="-122"/>
                <a:cs typeface="Arial" pitchFamily="34" charset="-120"/>
              </a:rPr>
              <a:t>• Create moats around critical builds
</a:t>
            </a:r>
            <a:pPr indent="0" marL="0">
              <a:buNone/>
            </a:pPr>
            <a:r>
              <a:rPr lang="en-US" sz="1200" dirty="0">
                <a:solidFill>
                  <a:srgbClr val="E2E8F0"/>
                </a:solidFill>
                <a:latin typeface="Arial" pitchFamily="34" charset="0"/>
                <a:ea typeface="Arial" pitchFamily="34" charset="-122"/>
                <a:cs typeface="Arial" pitchFamily="34" charset="-120"/>
              </a:rPr>
              <a:t>• Lava rivers as natural barriers
</a:t>
            </a:r>
            <a:pPr indent="0" marL="0">
              <a:buNone/>
            </a:pPr>
            <a:r>
              <a:rPr lang="en-US" sz="1200" dirty="0">
                <a:solidFill>
                  <a:srgbClr val="E2E8F0"/>
                </a:solidFill>
                <a:latin typeface="Arial" pitchFamily="34" charset="0"/>
                <a:ea typeface="Arial" pitchFamily="34" charset="-122"/>
                <a:cs typeface="Arial" pitchFamily="34" charset="-120"/>
              </a:rPr>
              <a:t>• Ancient debris farming (under lava lakes)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Base Rating &amp; Traps</a:t>
            </a:r>
            <a:endParaRPr lang="en-US" sz="3600" dirty="0"/>
          </a:p>
        </p:txBody>
      </p:sp>
      <p:sp>
        <p:nvSpPr>
          <p:cNvPr id="3" name="Shape 1"/>
          <p:cNvSpPr/>
          <p:nvPr/>
        </p:nvSpPr>
        <p:spPr>
          <a:xfrm>
            <a:off x="457200" y="1097280"/>
            <a:ext cx="3840480" cy="3657600"/>
          </a:xfrm>
          <a:prstGeom prst="rect">
            <a:avLst>
              <a:gd name="adj" fmla="val 2500"/>
            </a:avLst>
          </a:prstGeom>
          <a:solidFill>
            <a:srgbClr val="1A1A2E"/>
          </a:solidFill>
          <a:ln/>
        </p:spPr>
      </p:sp>
      <p:sp>
        <p:nvSpPr>
          <p:cNvPr id="4" name="Text 2"/>
          <p:cNvSpPr/>
          <p:nvPr/>
        </p:nvSpPr>
        <p:spPr>
          <a:xfrm>
            <a:off x="731520" y="1280160"/>
            <a:ext cx="3291840" cy="3291840"/>
          </a:xfrm>
          <a:prstGeom prst="rect">
            <a:avLst/>
          </a:prstGeom>
          <a:noFill/>
          <a:ln/>
        </p:spPr>
        <p:txBody>
          <a:bodyPr wrap="square" rtlCol="0" anchor="t"/>
          <a:lstStyle/>
          <a:p>
            <a:pPr indent="0" marL="0">
              <a:buNone/>
            </a:pPr>
            <a:r>
              <a:rPr lang="en-US" sz="1800" b="1" dirty="0">
                <a:solidFill>
                  <a:srgbClr val="4ADE80"/>
                </a:solidFill>
                <a:latin typeface="Arial" pitchFamily="34" charset="0"/>
                <a:ea typeface="Arial" pitchFamily="34" charset="-122"/>
                <a:cs typeface="Arial" pitchFamily="34" charset="-120"/>
              </a:rPr>
              <a:t>The Signature Format
</a:t>
            </a:r>
            <a:pPr indent="0" marL="0">
              <a:buNone/>
            </a:pPr>
            <a:r>
              <a:rPr lang="en-US" sz="8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DrDonut teleports to random players on DonutSMP and rates their bases. This became his most popular content format.
</a:t>
            </a:r>
            <a:pPr indent="0" marL="0">
              <a:buNone/>
            </a:pPr>
            <a:r>
              <a:rPr lang="en-US" sz="1300" dirty="0">
                <a:solidFill>
                  <a:srgbClr val="E2E8F0"/>
                </a:solidFill>
                <a:latin typeface="Arial" pitchFamily="34" charset="0"/>
                <a:ea typeface="Arial" pitchFamily="34" charset="-122"/>
                <a:cs typeface="Arial" pitchFamily="34" charset="-120"/>
              </a:rPr>
              <a:t>While rating, about half the viewers want him dead. Why?
</a:t>
            </a:r>
            <a:pPr indent="0" marL="0">
              <a:buNone/>
            </a:pPr>
            <a:r>
              <a:rPr lang="en-US" sz="1300" b="1" dirty="0">
                <a:solidFill>
                  <a:srgbClr val="F97316"/>
                </a:solidFill>
                <a:latin typeface="Arial" pitchFamily="34" charset="0"/>
                <a:ea typeface="Arial" pitchFamily="34" charset="-122"/>
                <a:cs typeface="Arial" pitchFamily="34" charset="-120"/>
              </a:rPr>
              <a:t>He has a bounty on his head. Whoever kills him gets the money.
</a:t>
            </a:r>
            <a:pPr indent="0" marL="0">
              <a:buNone/>
            </a:pPr>
            <a:r>
              <a:rPr lang="en-US" sz="1300" dirty="0">
                <a:solidFill>
                  <a:srgbClr val="E2E8F0"/>
                </a:solidFill>
                <a:latin typeface="Arial" pitchFamily="34" charset="0"/>
                <a:ea typeface="Arial" pitchFamily="34" charset="-122"/>
                <a:cs typeface="Arial" pitchFamily="34" charset="-120"/>
              </a:rPr>
              <a:t>This creates constant tension — he's visiting bases while people try to hunt him down.</a:t>
            </a:r>
            <a:endParaRPr lang="en-US" sz="1800" dirty="0"/>
          </a:p>
        </p:txBody>
      </p:sp>
      <p:sp>
        <p:nvSpPr>
          <p:cNvPr id="5" name="Shape 3"/>
          <p:cNvSpPr/>
          <p:nvPr/>
        </p:nvSpPr>
        <p:spPr>
          <a:xfrm>
            <a:off x="4754880" y="1097280"/>
            <a:ext cx="3931920" cy="3657600"/>
          </a:xfrm>
          <a:prstGeom prst="rect">
            <a:avLst>
              <a:gd name="adj" fmla="val 2500"/>
            </a:avLst>
          </a:prstGeom>
          <a:solidFill>
            <a:srgbClr val="1A1A2E"/>
          </a:solidFill>
          <a:ln/>
        </p:spPr>
      </p:sp>
      <p:sp>
        <p:nvSpPr>
          <p:cNvPr id="6" name="Text 4"/>
          <p:cNvSpPr/>
          <p:nvPr/>
        </p:nvSpPr>
        <p:spPr>
          <a:xfrm>
            <a:off x="5029200" y="1280160"/>
            <a:ext cx="3383280" cy="3291840"/>
          </a:xfrm>
          <a:prstGeom prst="rect">
            <a:avLst/>
          </a:prstGeom>
          <a:noFill/>
          <a:ln/>
        </p:spPr>
        <p:txBody>
          <a:bodyPr wrap="square" rtlCol="0" anchor="t"/>
          <a:lstStyle/>
          <a:p>
            <a:pPr indent="0" marL="0">
              <a:buNone/>
            </a:pPr>
            <a:r>
              <a:rPr lang="en-US" sz="1800" b="1" dirty="0">
                <a:solidFill>
                  <a:srgbClr val="EF4444"/>
                </a:solidFill>
                <a:latin typeface="Arial" pitchFamily="34" charset="0"/>
                <a:ea typeface="Arial" pitchFamily="34" charset="-122"/>
                <a:cs typeface="Arial" pitchFamily="34" charset="-120"/>
              </a:rPr>
              <a:t>Trapping DrDonut
</a:t>
            </a:r>
            <a:pPr indent="0" marL="0">
              <a:buNone/>
            </a:pPr>
            <a:r>
              <a:rPr lang="en-US" sz="8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E2E8F0"/>
                </a:solidFill>
                <a:latin typeface="Arial" pitchFamily="34" charset="0"/>
                <a:ea typeface="Arial" pitchFamily="34" charset="-122"/>
                <a:cs typeface="Arial" pitchFamily="34" charset="-120"/>
              </a:rPr>
              <a:t>Players build elaborate traps specifically for DrDonut:
</a:t>
            </a:r>
            <a:pPr indent="0" marL="0">
              <a:buNone/>
            </a:pPr>
            <a:r>
              <a:rPr lang="en-US" sz="1300" dirty="0">
                <a:solidFill>
                  <a:srgbClr val="E2E8F0"/>
                </a:solidFill>
                <a:latin typeface="Arial" pitchFamily="34" charset="0"/>
                <a:ea typeface="Arial" pitchFamily="34" charset="-122"/>
                <a:cs typeface="Arial" pitchFamily="34" charset="-120"/>
              </a:rPr>
              <a:t>• Fake stash entrances with hidden drops
</a:t>
            </a:r>
            <a:pPr indent="0" marL="0">
              <a:buNone/>
            </a:pPr>
            <a:r>
              <a:rPr lang="en-US" sz="1300" dirty="0">
                <a:solidFill>
                  <a:srgbClr val="E2E8F0"/>
                </a:solidFill>
                <a:latin typeface="Arial" pitchFamily="34" charset="0"/>
                <a:ea typeface="Arial" pitchFamily="34" charset="-122"/>
                <a:cs typeface="Arial" pitchFamily="34" charset="-120"/>
              </a:rPr>
              <a:t>• Redstone-triggered trap doors
</a:t>
            </a:r>
            <a:pPr indent="0" marL="0">
              <a:buNone/>
            </a:pPr>
            <a:r>
              <a:rPr lang="en-US" sz="1300" dirty="0">
                <a:solidFill>
                  <a:srgbClr val="E2E8F0"/>
                </a:solidFill>
                <a:latin typeface="Arial" pitchFamily="34" charset="0"/>
                <a:ea typeface="Arial" pitchFamily="34" charset="-122"/>
                <a:cs typeface="Arial" pitchFamily="34" charset="-120"/>
              </a:rPr>
              <a:t>• Pearl-stripping to prevent escape
</a:t>
            </a:r>
            <a:pPr indent="0" marL="0">
              <a:buNone/>
            </a:pPr>
            <a:r>
              <a:rPr lang="en-US" sz="1300" dirty="0">
                <a:solidFill>
                  <a:srgbClr val="E2E8F0"/>
                </a:solidFill>
                <a:latin typeface="Arial" pitchFamily="34" charset="0"/>
                <a:ea typeface="Arial" pitchFamily="34" charset="-122"/>
                <a:cs typeface="Arial" pitchFamily="34" charset="-120"/>
              </a:rPr>
              <a:t>• Bodyguard betrayal plots (like the Farex trap)
</a:t>
            </a:r>
            <a:pPr indent="0" marL="0">
              <a:buNone/>
            </a:pPr>
            <a:r>
              <a:rPr lang="en-US" sz="1300" i="1" dirty="0">
                <a:solidFill>
                  <a:srgbClr val="94A3B8"/>
                </a:solidFill>
                <a:latin typeface="Arial" pitchFamily="34" charset="0"/>
                <a:ea typeface="Arial" pitchFamily="34" charset="-122"/>
                <a:cs typeface="Arial" pitchFamily="34" charset="-120"/>
              </a:rPr>
              <a:t>"You see, I've trapped DrDonut like 20 times"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0" y="3840480"/>
            <a:ext cx="9144000" cy="1303020"/>
          </a:xfrm>
          <a:prstGeom prst="rect">
            <a:avLst/>
          </a:prstGeom>
          <a:solidFill>
            <a:srgbClr val="4ADE80"/>
          </a:solidFill>
          <a:ln/>
        </p:spPr>
      </p:sp>
      <p:sp>
        <p:nvSpPr>
          <p:cNvPr id="4" name="Text 2"/>
          <p:cNvSpPr/>
          <p:nvPr/>
        </p:nvSpPr>
        <p:spPr>
          <a:xfrm>
            <a:off x="457200" y="914400"/>
            <a:ext cx="8229600" cy="91440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The Donut Empire</a:t>
            </a:r>
            <a:endParaRPr lang="en-US" sz="4200" dirty="0"/>
          </a:p>
        </p:txBody>
      </p:sp>
      <p:sp>
        <p:nvSpPr>
          <p:cNvPr id="5" name="Text 3"/>
          <p:cNvSpPr/>
          <p:nvPr/>
        </p:nvSpPr>
        <p:spPr>
          <a:xfrm>
            <a:off x="457200" y="1828800"/>
            <a:ext cx="8229600" cy="1828800"/>
          </a:xfrm>
          <a:prstGeom prst="rect">
            <a:avLst/>
          </a:prstGeom>
          <a:noFill/>
          <a:ln/>
        </p:spPr>
        <p:txBody>
          <a:bodyPr wrap="square" rtlCol="0" anchor="ctr"/>
          <a:lstStyle/>
          <a:p>
            <a:pPr indent="0" marL="0">
              <a:buNone/>
            </a:pPr>
            <a:r>
              <a:rPr lang="en-US" sz="1800" dirty="0">
                <a:solidFill>
                  <a:srgbClr val="E2E8F0"/>
                </a:solidFill>
                <a:latin typeface="Arial" pitchFamily="34" charset="0"/>
                <a:ea typeface="Arial" pitchFamily="34" charset="-122"/>
                <a:cs typeface="Arial" pitchFamily="34" charset="-120"/>
              </a:rPr>
              <a:t>DrDonut turned Minecraft chaos into a content empire.
</a:t>
            </a:r>
            <a:pPr indent="0" marL="0">
              <a:buNone/>
            </a:pPr>
            <a:r>
              <a:rPr lang="en-US" sz="1000" dirty="0">
                <a:solidFill>
                  <a:srgbClr val="000000"/>
                </a:solidFill>
                <a:latin typeface="Arial" pitchFamily="34" charset="0"/>
                <a:ea typeface="Arial" pitchFamily="34" charset="-122"/>
                <a:cs typeface="Arial" pitchFamily="34" charset="-120"/>
              </a:rPr>
              <a:t>
</a:t>
            </a:r>
            <a:pPr indent="0" marL="0">
              <a:buNone/>
            </a:pPr>
            <a:r>
              <a:rPr lang="en-US" sz="1600" dirty="0">
                <a:solidFill>
                  <a:srgbClr val="94A3B8"/>
                </a:solidFill>
                <a:latin typeface="Arial" pitchFamily="34" charset="0"/>
                <a:ea typeface="Arial" pitchFamily="34" charset="-122"/>
                <a:cs typeface="Arial" pitchFamily="34" charset="-120"/>
              </a:rPr>
              <a:t>Flooding destroys. Explosions obliterate. Drainers clear the way. Lava hides everything.
</a:t>
            </a:r>
            <a:pPr indent="0" marL="0">
              <a:buNone/>
            </a:pPr>
            <a:r>
              <a:rPr lang="en-US" sz="1600" dirty="0">
                <a:solidFill>
                  <a:srgbClr val="4ADE80"/>
                </a:solidFill>
                <a:latin typeface="Arial" pitchFamily="34" charset="0"/>
                <a:ea typeface="Arial" pitchFamily="34" charset="-122"/>
                <a:cs typeface="Arial" pitchFamily="34" charset="-120"/>
              </a:rPr>
              <a:t>And he broadcasts every second of it to millions.</a:t>
            </a:r>
            <a:endParaRPr lang="en-US" sz="1800" dirty="0"/>
          </a:p>
        </p:txBody>
      </p:sp>
      <p:sp>
        <p:nvSpPr>
          <p:cNvPr id="6" name="Text 4"/>
          <p:cNvSpPr/>
          <p:nvPr/>
        </p:nvSpPr>
        <p:spPr>
          <a:xfrm>
            <a:off x="457200" y="3977640"/>
            <a:ext cx="8229600" cy="731520"/>
          </a:xfrm>
          <a:prstGeom prst="rect">
            <a:avLst/>
          </a:prstGeom>
          <a:noFill/>
          <a:ln/>
        </p:spPr>
        <p:txBody>
          <a:bodyPr wrap="square" rtlCol="0" anchor="ctr"/>
          <a:lstStyle/>
          <a:p>
            <a:pPr indent="0" marL="0">
              <a:buNone/>
            </a:pPr>
            <a:r>
              <a:rPr lang="en-US" sz="1600" b="1" dirty="0">
                <a:solidFill>
                  <a:srgbClr val="0F0F1A"/>
                </a:solidFill>
                <a:latin typeface="Arial" pitchFamily="34" charset="0"/>
                <a:ea typeface="Arial" pitchFamily="34" charset="-122"/>
                <a:cs typeface="Arial" pitchFamily="34" charset="-120"/>
              </a:rPr>
              <a:t>From zero to a million subscribers in 2 years. This donut isn't done rolling.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2026-08-17T09:15:42Z</dcterms:created>
  <dcterms:modified xsi:type="dcterms:W3CDTF">2026-08-17T09:15:42Z</dcterms:modified>
</cp:coreProperties>
</file>